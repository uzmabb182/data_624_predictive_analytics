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aleway"/>
      <p:regular r:id="rId38"/>
      <p:bold r:id="rId39"/>
      <p:italic r:id="rId40"/>
      <p:boldItalic r:id="rId41"/>
    </p:embeddedFont>
    <p:embeddedFont>
      <p:font typeface="La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42">
          <p15:clr>
            <a:srgbClr val="747775"/>
          </p15:clr>
        </p15:guide>
        <p15:guide id="2" pos="554">
          <p15:clr>
            <a:srgbClr val="747775"/>
          </p15:clr>
        </p15:guide>
        <p15:guide id="3" pos="77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42" orient="horz"/>
        <p:guide pos="554"/>
        <p:guide pos="77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italic.fntdata"/><Relationship Id="rId20" Type="http://schemas.openxmlformats.org/officeDocument/2006/relationships/slide" Target="slides/slide15.xml"/><Relationship Id="rId42" Type="http://schemas.openxmlformats.org/officeDocument/2006/relationships/font" Target="fonts/Lato-regular.fntdata"/><Relationship Id="rId41" Type="http://schemas.openxmlformats.org/officeDocument/2006/relationships/font" Target="fonts/Raleway-boldItalic.fntdata"/><Relationship Id="rId22" Type="http://schemas.openxmlformats.org/officeDocument/2006/relationships/slide" Target="slides/slide17.xml"/><Relationship Id="rId44" Type="http://schemas.openxmlformats.org/officeDocument/2006/relationships/font" Target="fonts/Lato-italic.fntdata"/><Relationship Id="rId21" Type="http://schemas.openxmlformats.org/officeDocument/2006/relationships/slide" Target="slides/slide16.xml"/><Relationship Id="rId43" Type="http://schemas.openxmlformats.org/officeDocument/2006/relationships/font" Target="fonts/Lato-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bold.fntdata"/><Relationship Id="rId16" Type="http://schemas.openxmlformats.org/officeDocument/2006/relationships/slide" Target="slides/slide11.xml"/><Relationship Id="rId38" Type="http://schemas.openxmlformats.org/officeDocument/2006/relationships/font" Target="fonts/Raleway-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35afe54ad_0_44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c35afe54ad_0_4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678a96e9f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678a96e9f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678a96e9f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678a96e9f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easy to remove this variation by computing average sales per operating day in each month, rather than total productions in the month. Then we effectively remove the calendar variation.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c678a96e9f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c678a96e9f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removing the effects of population changes through considering the number of beds per thousand people, you can see if there’s a real increase in beds or the increases are due to population increase.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is possible for the total number of beds to increase, but the number of beds per thousand people to decrease. This occurs when the population is increasing faster than the number of hospital beds.)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678a96e9f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678a96e9f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This allows us to compare the growth or decline of industries relative to a common price value.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678a96e9f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678a96e9f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714cbd3e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714cbd3e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a:t>
            </a:r>
            <a:r>
              <a:rPr lang="en"/>
              <a:t>good value of  λ is one which makes the size of the seasonal variation about the same across the whole series, as that makes the forecasting model simpler.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c678a96e9f_5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c678a96e9f_5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678a96e9f_5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678a96e9f_5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additive decomposition is the most appropriate if the magnitude of the seasonal fluctuations, or the variation around the trend-cycle, does not vary with the level of the time series.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678a96e9f_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678a96e9f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variation in the seasonal pattern, or the variation around the trend-cycle, appears to be proportional to the level of the time series, then a multiplicative decomposition is more appropriate.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6611b7b94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6611b7b9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c678a96e9f_3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c678a96e9f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72178925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c72178925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c678a96e9f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c678a96e9f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678a96e9f_3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c678a96e9f_3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c678a96e9f_3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c678a96e9f_3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678a96e9f_6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678a96e9f_6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93b0351b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93b0351b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c678a96e9f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c678a96e9f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c678a96e9f_6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3c678a96e9f_6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939bf5aee3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939bf5aee3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800"/>
              </a:spcBef>
              <a:spcAft>
                <a:spcPts val="0"/>
              </a:spcAft>
              <a:buClr>
                <a:schemeClr val="dk1"/>
              </a:buClr>
              <a:buSzPts val="1100"/>
              <a:buFont typeface="Arial"/>
              <a:buNone/>
            </a:pPr>
            <a:r>
              <a:rPr b="1" lang="en" sz="1400">
                <a:solidFill>
                  <a:schemeClr val="dk1"/>
                </a:solidFill>
                <a:latin typeface="Lato"/>
                <a:ea typeface="Lato"/>
                <a:cs typeface="Lato"/>
                <a:sym typeface="Lato"/>
              </a:rPr>
              <a:t>Speaker Notes: The Evolution of Decomposition</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Global Impact:</a:t>
            </a:r>
            <a:r>
              <a:rPr lang="en" sz="1400">
                <a:solidFill>
                  <a:schemeClr val="dk1"/>
                </a:solidFill>
                <a:latin typeface="Lato"/>
                <a:ea typeface="Lato"/>
                <a:cs typeface="Lato"/>
                <a:sym typeface="Lato"/>
              </a:rPr>
              <a:t> Decomposition is the backbone of global economics. Agencies like the Bureau of Labor Statistics use it to turn massive, messy datasets into clear signals that drive government policy.</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The Agency Standard:</a:t>
            </a:r>
            <a:r>
              <a:rPr lang="en" sz="1400">
                <a:solidFill>
                  <a:schemeClr val="dk1"/>
                </a:solidFill>
                <a:latin typeface="Lato"/>
                <a:ea typeface="Lato"/>
                <a:cs typeface="Lato"/>
                <a:sym typeface="Lato"/>
              </a:rPr>
              <a:t> For official seasonal adjustment, the world relies on two pillars: </a:t>
            </a:r>
            <a:r>
              <a:rPr b="1" lang="en" sz="1400">
                <a:solidFill>
                  <a:schemeClr val="dk1"/>
                </a:solidFill>
                <a:latin typeface="Lato"/>
                <a:ea typeface="Lato"/>
                <a:cs typeface="Lato"/>
                <a:sym typeface="Lato"/>
              </a:rPr>
              <a:t>X-11</a:t>
            </a:r>
            <a:r>
              <a:rPr lang="en" sz="1400">
                <a:solidFill>
                  <a:schemeClr val="dk1"/>
                </a:solidFill>
                <a:latin typeface="Lato"/>
                <a:ea typeface="Lato"/>
                <a:cs typeface="Lato"/>
                <a:sym typeface="Lato"/>
              </a:rPr>
              <a:t> and </a:t>
            </a:r>
            <a:r>
              <a:rPr b="1" lang="en" sz="1400">
                <a:solidFill>
                  <a:schemeClr val="dk1"/>
                </a:solidFill>
                <a:latin typeface="Lato"/>
                <a:ea typeface="Lato"/>
                <a:cs typeface="Lato"/>
                <a:sym typeface="Lato"/>
              </a:rPr>
              <a:t>SEATS</a:t>
            </a:r>
            <a:r>
              <a:rPr lang="en" sz="1400">
                <a:solidFill>
                  <a:schemeClr val="dk1"/>
                </a:solidFill>
                <a:latin typeface="Lato"/>
                <a:ea typeface="Lato"/>
                <a:cs typeface="Lato"/>
                <a:sym typeface="Lato"/>
              </a:rPr>
              <a:t>. While they have different origins, they are often used together in a hybrid approach.</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The Modern Tool:</a:t>
            </a:r>
            <a:r>
              <a:rPr lang="en" sz="1400">
                <a:solidFill>
                  <a:schemeClr val="dk1"/>
                </a:solidFill>
                <a:latin typeface="Lato"/>
                <a:ea typeface="Lato"/>
                <a:cs typeface="Lato"/>
                <a:sym typeface="Lato"/>
              </a:rPr>
              <a:t> In our R code, we use the </a:t>
            </a:r>
            <a:r>
              <a:rPr lang="en" sz="1400">
                <a:solidFill>
                  <a:srgbClr val="188038"/>
                </a:solidFill>
                <a:latin typeface="Lato"/>
                <a:ea typeface="Lato"/>
                <a:cs typeface="Lato"/>
                <a:sym typeface="Lato"/>
              </a:rPr>
              <a:t>X_13ARIMA_SEATS</a:t>
            </a:r>
            <a:r>
              <a:rPr lang="en" sz="1400">
                <a:solidFill>
                  <a:schemeClr val="dk1"/>
                </a:solidFill>
                <a:latin typeface="Lato"/>
                <a:ea typeface="Lato"/>
                <a:cs typeface="Lato"/>
                <a:sym typeface="Lato"/>
              </a:rPr>
              <a:t> function. This is the current industry standard that puts these professional agency-level tools directly into our hands.</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Font typeface="Lato"/>
              <a:buChar char="●"/>
            </a:pPr>
            <a:r>
              <a:rPr b="1" lang="en" sz="1400">
                <a:solidFill>
                  <a:schemeClr val="dk1"/>
                </a:solidFill>
                <a:latin typeface="Lato"/>
                <a:ea typeface="Lato"/>
                <a:cs typeface="Lato"/>
                <a:sym typeface="Lato"/>
              </a:rPr>
              <a:t>A Century of Progress:</a:t>
            </a:r>
            <a:endParaRPr b="1" sz="1400">
              <a:solidFill>
                <a:schemeClr val="dk1"/>
              </a:solidFill>
              <a:latin typeface="Lato"/>
              <a:ea typeface="Lato"/>
              <a:cs typeface="Lato"/>
              <a:sym typeface="Lato"/>
            </a:endParaRPr>
          </a:p>
          <a:p>
            <a:pPr indent="-317500" lvl="1" marL="9144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1920s:</a:t>
            </a:r>
            <a:r>
              <a:rPr lang="en" sz="1400">
                <a:solidFill>
                  <a:schemeClr val="dk1"/>
                </a:solidFill>
                <a:latin typeface="Lato"/>
                <a:ea typeface="Lato"/>
                <a:cs typeface="Lato"/>
                <a:sym typeface="Lato"/>
              </a:rPr>
              <a:t> It began with </a:t>
            </a:r>
            <a:r>
              <a:rPr b="1" lang="en" sz="1400">
                <a:solidFill>
                  <a:schemeClr val="dk1"/>
                </a:solidFill>
                <a:latin typeface="Lato"/>
                <a:ea typeface="Lato"/>
                <a:cs typeface="Lato"/>
                <a:sym typeface="Lato"/>
              </a:rPr>
              <a:t>Classical Decomposition</a:t>
            </a:r>
            <a:r>
              <a:rPr lang="en" sz="1400">
                <a:solidFill>
                  <a:schemeClr val="dk1"/>
                </a:solidFill>
                <a:latin typeface="Lato"/>
                <a:ea typeface="Lato"/>
                <a:cs typeface="Lato"/>
                <a:sym typeface="Lato"/>
              </a:rPr>
              <a:t>, which was a great start but too rigid for complex data.</a:t>
            </a:r>
            <a:endParaRPr sz="1400">
              <a:solidFill>
                <a:schemeClr val="dk1"/>
              </a:solidFill>
              <a:latin typeface="Lato"/>
              <a:ea typeface="Lato"/>
              <a:cs typeface="Lato"/>
              <a:sym typeface="Lato"/>
            </a:endParaRPr>
          </a:p>
          <a:p>
            <a:pPr indent="-317500" lvl="1" marL="9144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1950s:</a:t>
            </a:r>
            <a:r>
              <a:rPr lang="en" sz="1400">
                <a:solidFill>
                  <a:schemeClr val="dk1"/>
                </a:solidFill>
                <a:latin typeface="Lato"/>
                <a:ea typeface="Lato"/>
                <a:cs typeface="Lato"/>
                <a:sym typeface="Lato"/>
              </a:rPr>
              <a:t> The US Census Bureau revolutionized the field with </a:t>
            </a:r>
            <a:r>
              <a:rPr b="1" lang="en" sz="1400">
                <a:solidFill>
                  <a:schemeClr val="dk1"/>
                </a:solidFill>
                <a:latin typeface="Lato"/>
                <a:ea typeface="Lato"/>
                <a:cs typeface="Lato"/>
                <a:sym typeface="Lato"/>
              </a:rPr>
              <a:t>Census II</a:t>
            </a:r>
            <a:r>
              <a:rPr lang="en" sz="1400">
                <a:solidFill>
                  <a:schemeClr val="dk1"/>
                </a:solidFill>
                <a:latin typeface="Lato"/>
                <a:ea typeface="Lato"/>
                <a:cs typeface="Lato"/>
                <a:sym typeface="Lato"/>
              </a:rPr>
              <a:t>, which evolved into the </a:t>
            </a:r>
            <a:r>
              <a:rPr b="1" lang="en" sz="1400">
                <a:solidFill>
                  <a:schemeClr val="dk1"/>
                </a:solidFill>
                <a:latin typeface="Lato"/>
                <a:ea typeface="Lato"/>
                <a:cs typeface="Lato"/>
                <a:sym typeface="Lato"/>
              </a:rPr>
              <a:t>X-11</a:t>
            </a:r>
            <a:r>
              <a:rPr lang="en" sz="1400">
                <a:solidFill>
                  <a:schemeClr val="dk1"/>
                </a:solidFill>
                <a:latin typeface="Lato"/>
                <a:ea typeface="Lato"/>
                <a:cs typeface="Lato"/>
                <a:sym typeface="Lato"/>
              </a:rPr>
              <a:t> family we use today.</a:t>
            </a:r>
            <a:endParaRPr sz="1400">
              <a:solidFill>
                <a:schemeClr val="dk1"/>
              </a:solidFill>
              <a:latin typeface="Lato"/>
              <a:ea typeface="Lato"/>
              <a:cs typeface="Lato"/>
              <a:sym typeface="Lato"/>
            </a:endParaRPr>
          </a:p>
          <a:p>
            <a:pPr indent="-317500" lvl="1" marL="9144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1990s:</a:t>
            </a:r>
            <a:r>
              <a:rPr lang="en" sz="1400">
                <a:solidFill>
                  <a:schemeClr val="dk1"/>
                </a:solidFill>
                <a:latin typeface="Lato"/>
                <a:ea typeface="Lato"/>
                <a:cs typeface="Lato"/>
                <a:sym typeface="Lato"/>
              </a:rPr>
              <a:t> </a:t>
            </a:r>
            <a:r>
              <a:rPr b="1" lang="en" sz="1400">
                <a:solidFill>
                  <a:schemeClr val="dk1"/>
                </a:solidFill>
                <a:latin typeface="Lato"/>
                <a:ea typeface="Lato"/>
                <a:cs typeface="Lato"/>
                <a:sym typeface="Lato"/>
              </a:rPr>
              <a:t>STL</a:t>
            </a:r>
            <a:r>
              <a:rPr lang="en" sz="1400">
                <a:solidFill>
                  <a:schemeClr val="dk1"/>
                </a:solidFill>
                <a:latin typeface="Lato"/>
                <a:ea typeface="Lato"/>
                <a:cs typeface="Lato"/>
                <a:sym typeface="Lato"/>
              </a:rPr>
              <a:t> was developed at Bell Labs to handle more diverse data types, while </a:t>
            </a:r>
            <a:r>
              <a:rPr b="1" lang="en" sz="1400">
                <a:solidFill>
                  <a:schemeClr val="dk1"/>
                </a:solidFill>
                <a:latin typeface="Lato"/>
                <a:ea typeface="Lato"/>
                <a:cs typeface="Lato"/>
                <a:sym typeface="Lato"/>
              </a:rPr>
              <a:t>SEATS</a:t>
            </a:r>
            <a:r>
              <a:rPr lang="en" sz="1400">
                <a:solidFill>
                  <a:schemeClr val="dk1"/>
                </a:solidFill>
                <a:latin typeface="Lato"/>
                <a:ea typeface="Lato"/>
                <a:cs typeface="Lato"/>
                <a:sym typeface="Lato"/>
              </a:rPr>
              <a:t> emerged from Europe as a mathematically rigorous, model-based alternative.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The Goal:</a:t>
            </a:r>
            <a:r>
              <a:rPr lang="en" sz="1400">
                <a:solidFill>
                  <a:schemeClr val="dk1"/>
                </a:solidFill>
                <a:latin typeface="Lato"/>
                <a:ea typeface="Lato"/>
                <a:cs typeface="Lato"/>
                <a:sym typeface="Lato"/>
              </a:rPr>
              <a:t> Whether it’s X-11 or SEATS, the goal is the same: strip away the seasonal 'noise' to reveal the true economic 'signal' policymakers need.</a:t>
            </a:r>
            <a:endParaRPr sz="1400">
              <a:solidFill>
                <a:schemeClr val="dk1"/>
              </a:solidFill>
              <a:latin typeface="Lato"/>
              <a:ea typeface="Lato"/>
              <a:cs typeface="Lato"/>
              <a:sym typeface="Lato"/>
            </a:endParaRPr>
          </a:p>
          <a:p>
            <a:pPr indent="0" lvl="0" marL="0" rtl="0" algn="l">
              <a:spcBef>
                <a:spcPts val="1200"/>
              </a:spcBef>
              <a:spcAft>
                <a:spcPts val="0"/>
              </a:spcAft>
              <a:buNone/>
            </a:pPr>
            <a:r>
              <a:t/>
            </a:r>
            <a:endParaRPr b="1" sz="17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939bf5aee3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939bf5aee3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400">
                <a:solidFill>
                  <a:schemeClr val="dk1"/>
                </a:solidFill>
                <a:latin typeface="Lato"/>
                <a:ea typeface="Lato"/>
                <a:cs typeface="Lato"/>
                <a:sym typeface="Lato"/>
              </a:rPr>
              <a:t>Speaker Notes: X-11 Decomposition</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Introduction:</a:t>
            </a:r>
            <a:r>
              <a:rPr lang="en" sz="1400">
                <a:solidFill>
                  <a:schemeClr val="dk1"/>
                </a:solidFill>
                <a:latin typeface="Lato"/>
                <a:ea typeface="Lato"/>
                <a:cs typeface="Lato"/>
                <a:sym typeface="Lato"/>
              </a:rPr>
              <a:t> Developed by the US Census Bureau,  when they need to seasonally adjust data like unemployment rates or retail sales."</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Algorithmic Iteration:</a:t>
            </a:r>
            <a:r>
              <a:rPr lang="en" sz="1400">
                <a:solidFill>
                  <a:schemeClr val="dk1"/>
                </a:solidFill>
                <a:latin typeface="Lato"/>
                <a:ea typeface="Lato"/>
                <a:cs typeface="Lato"/>
                <a:sym typeface="Lato"/>
              </a:rPr>
              <a:t> Unlike classical decomposition which uses a single pass, X-11 is </a:t>
            </a:r>
            <a:r>
              <a:rPr b="1" lang="en" sz="1400">
                <a:solidFill>
                  <a:schemeClr val="dk1"/>
                </a:solidFill>
                <a:latin typeface="Lato"/>
                <a:ea typeface="Lato"/>
                <a:cs typeface="Lato"/>
                <a:sym typeface="Lato"/>
              </a:rPr>
              <a:t>iterative</a:t>
            </a:r>
            <a:r>
              <a:rPr lang="en" sz="1400">
                <a:solidFill>
                  <a:schemeClr val="dk1"/>
                </a:solidFill>
                <a:latin typeface="Lato"/>
                <a:ea typeface="Lato"/>
                <a:cs typeface="Lato"/>
                <a:sym typeface="Lato"/>
              </a:rPr>
              <a:t>. It goes back and forth—estimating the trend, then the seasonality, then refining the trend again—until the components are as clean as possible.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Advanced Moving Averages:</a:t>
            </a:r>
            <a:r>
              <a:rPr lang="en" sz="1400">
                <a:solidFill>
                  <a:schemeClr val="dk1"/>
                </a:solidFill>
                <a:latin typeface="Lato"/>
                <a:ea typeface="Lato"/>
                <a:cs typeface="Lato"/>
                <a:sym typeface="Lato"/>
              </a:rPr>
              <a:t> It doesn't just use a simple moving average. It applies specialized filters that are better at handling the ends of the time series, which is usually where simple averages fail.</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Evolving Seasonality:</a:t>
            </a:r>
            <a:r>
              <a:rPr lang="en" sz="1400">
                <a:solidFill>
                  <a:schemeClr val="dk1"/>
                </a:solidFill>
                <a:latin typeface="Lato"/>
                <a:ea typeface="Lato"/>
                <a:cs typeface="Lato"/>
                <a:sym typeface="Lato"/>
              </a:rPr>
              <a:t> This is a major upgrade over classical methods. In the real world, seasonality isn't 'fixed.' For example, the peak of holiday shopping has shifted earlier in December over the last decade. X-11 can track that gradual change.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Outlier Robustness:</a:t>
            </a:r>
            <a:r>
              <a:rPr lang="en" sz="1400">
                <a:solidFill>
                  <a:schemeClr val="dk1"/>
                </a:solidFill>
                <a:latin typeface="Lato"/>
                <a:ea typeface="Lato"/>
                <a:cs typeface="Lato"/>
                <a:sym typeface="Lato"/>
              </a:rPr>
              <a:t> One of its best features is that it’s hard to 'break.' It has built-in logic to spot outliers and handle 'trading day effects'—like if a month has five Sundays instead of four—so they  don't ruin your trend line.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Flexible Framework:</a:t>
            </a:r>
            <a:r>
              <a:rPr lang="en" sz="1400">
                <a:solidFill>
                  <a:schemeClr val="dk1"/>
                </a:solidFill>
                <a:latin typeface="Lato"/>
                <a:ea typeface="Lato"/>
                <a:cs typeface="Lato"/>
                <a:sym typeface="Lato"/>
              </a:rPr>
              <a:t> Finally, it's versatile. It supports both additive and multiplicative models. If you're using the </a:t>
            </a:r>
            <a:r>
              <a:rPr b="1" lang="en" sz="1400">
                <a:solidFill>
                  <a:schemeClr val="dk1"/>
                </a:solidFill>
                <a:latin typeface="Lato"/>
                <a:ea typeface="Lato"/>
                <a:cs typeface="Lato"/>
                <a:sym typeface="Lato"/>
              </a:rPr>
              <a:t>fable</a:t>
            </a:r>
            <a:r>
              <a:rPr lang="en" sz="1400">
                <a:solidFill>
                  <a:schemeClr val="dk1"/>
                </a:solidFill>
                <a:latin typeface="Lato"/>
                <a:ea typeface="Lato"/>
                <a:cs typeface="Lato"/>
                <a:sym typeface="Lato"/>
              </a:rPr>
              <a:t> package in R, you can call it easily using the </a:t>
            </a:r>
            <a:r>
              <a:rPr lang="en" sz="1400">
                <a:solidFill>
                  <a:srgbClr val="188038"/>
                </a:solidFill>
                <a:latin typeface="Lato"/>
                <a:ea typeface="Lato"/>
                <a:cs typeface="Lato"/>
                <a:sym typeface="Lato"/>
              </a:rPr>
              <a:t>X11()</a:t>
            </a:r>
            <a:r>
              <a:rPr lang="en" sz="1400">
                <a:solidFill>
                  <a:schemeClr val="dk1"/>
                </a:solidFill>
                <a:latin typeface="Lato"/>
                <a:ea typeface="Lato"/>
                <a:cs typeface="Lato"/>
                <a:sym typeface="Lato"/>
              </a:rPr>
              <a:t> function, which is exactly what Hyndman discusses in Chapter 3.</a:t>
            </a:r>
            <a:endParaRPr sz="1400">
              <a:solidFill>
                <a:schemeClr val="dk1"/>
              </a:solidFill>
              <a:latin typeface="Lato"/>
              <a:ea typeface="Lato"/>
              <a:cs typeface="Lato"/>
              <a:sym typeface="Lato"/>
            </a:endParaRPr>
          </a:p>
          <a:p>
            <a:pPr indent="0" lvl="0" marL="0" rtl="0" algn="l">
              <a:lnSpc>
                <a:spcPct val="200000"/>
              </a:lnSpc>
              <a:spcBef>
                <a:spcPts val="1200"/>
              </a:spcBef>
              <a:spcAft>
                <a:spcPts val="0"/>
              </a:spcAft>
              <a:buNone/>
            </a:pPr>
            <a:r>
              <a:t/>
            </a:r>
            <a:endParaRPr sz="1400">
              <a:latin typeface="Lato"/>
              <a:ea typeface="Lato"/>
              <a:cs typeface="Lato"/>
              <a:sym typeface="La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939bf5aee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939bf5aee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400"/>
              </a:spcBef>
              <a:spcAft>
                <a:spcPts val="0"/>
              </a:spcAft>
              <a:buClr>
                <a:schemeClr val="dk1"/>
              </a:buClr>
              <a:buSzPts val="1100"/>
              <a:buFont typeface="Arial"/>
              <a:buNone/>
            </a:pPr>
            <a:r>
              <a:rPr b="1" lang="en" sz="1400">
                <a:solidFill>
                  <a:schemeClr val="dk1"/>
                </a:solidFill>
                <a:latin typeface="Lato"/>
                <a:ea typeface="Lato"/>
                <a:cs typeface="Lato"/>
                <a:sym typeface="Lato"/>
              </a:rPr>
              <a:t>Speaker Notes</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No Formal Statistical Model:</a:t>
            </a:r>
            <a:r>
              <a:rPr lang="en" sz="1400">
                <a:solidFill>
                  <a:schemeClr val="dk1"/>
                </a:solidFill>
                <a:latin typeface="Lato"/>
                <a:ea typeface="Lato"/>
                <a:cs typeface="Lato"/>
                <a:sym typeface="Lato"/>
              </a:rPr>
              <a:t> One of the main criticisms from statisticians is that X-11 is 'ad-hoc.' It’s a series of steps that work well in practice, but it doesn't have a solid underlying probability theory like an ARIMA model would.</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No Prediction Intervals:</a:t>
            </a:r>
            <a:r>
              <a:rPr lang="en" sz="1400">
                <a:solidFill>
                  <a:schemeClr val="dk1"/>
                </a:solidFill>
                <a:latin typeface="Lato"/>
                <a:ea typeface="Lato"/>
                <a:cs typeface="Lato"/>
                <a:sym typeface="Lato"/>
              </a:rPr>
              <a:t> Because there is no formal model, we don't get 'standard errors' for our trend or seasonal estimates. This means we can't easily say how confident we are in the decomposition—we just get a single point estimate.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Restricted Frequency:</a:t>
            </a:r>
            <a:r>
              <a:rPr lang="en" sz="1400">
                <a:solidFill>
                  <a:schemeClr val="dk1"/>
                </a:solidFill>
                <a:latin typeface="Lato"/>
                <a:ea typeface="Lato"/>
                <a:cs typeface="Lato"/>
                <a:sym typeface="Lato"/>
              </a:rPr>
              <a:t> This is a big practical limitation for modern data science. If you’re working with daily sales or hourly web traffic, X-11 simply won't work; it’s hard-coded for the standard 4-quarter or 12-month fiscal cycles.</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No Support for Covariates:</a:t>
            </a:r>
            <a:r>
              <a:rPr lang="en" sz="1400">
                <a:solidFill>
                  <a:schemeClr val="dk1"/>
                </a:solidFill>
                <a:latin typeface="Lato"/>
                <a:ea typeface="Lato"/>
                <a:cs typeface="Lato"/>
                <a:sym typeface="Lato"/>
              </a:rPr>
              <a:t> X-11 is strictly univariate. It only looks at the history of the series itself. If you know that a specific promotion or a holiday like Easter (which moves dates) impacted your numbers, X-11 has a hard time 'learning' that from an external data source.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Black Box Nature:</a:t>
            </a:r>
            <a:r>
              <a:rPr lang="en" sz="1400">
                <a:solidFill>
                  <a:schemeClr val="dk1"/>
                </a:solidFill>
                <a:latin typeface="Lato"/>
                <a:ea typeface="Lato"/>
                <a:cs typeface="Lato"/>
                <a:sym typeface="Lato"/>
              </a:rPr>
              <a:t> Because it is so iterative and involves many 'if-then' rules for handling outliers and filters, it can be hard to explain exactly </a:t>
            </a:r>
            <a:r>
              <a:rPr i="1" lang="en" sz="1400">
                <a:solidFill>
                  <a:schemeClr val="dk1"/>
                </a:solidFill>
                <a:latin typeface="Lato"/>
                <a:ea typeface="Lato"/>
                <a:cs typeface="Lato"/>
                <a:sym typeface="Lato"/>
              </a:rPr>
              <a:t>why</a:t>
            </a:r>
            <a:r>
              <a:rPr lang="en" sz="1400">
                <a:solidFill>
                  <a:schemeClr val="dk1"/>
                </a:solidFill>
                <a:latin typeface="Lato"/>
                <a:ea typeface="Lato"/>
                <a:cs typeface="Lato"/>
                <a:sym typeface="Lato"/>
              </a:rPr>
              <a:t> a certain data point was smoothed a certain way, unlike a transparent regression-based decomposition.</a:t>
            </a:r>
            <a:endParaRPr sz="1400">
              <a:solidFill>
                <a:schemeClr val="dk1"/>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6611b7b9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c6611b7b9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800"/>
              </a:spcBef>
              <a:spcAft>
                <a:spcPts val="0"/>
              </a:spcAft>
              <a:buClr>
                <a:schemeClr val="dk1"/>
              </a:buClr>
              <a:buSzPts val="1100"/>
              <a:buFont typeface="Arial"/>
              <a:buNone/>
            </a:pPr>
            <a:r>
              <a:rPr b="1" lang="en" sz="1400">
                <a:solidFill>
                  <a:schemeClr val="dk1"/>
                </a:solidFill>
                <a:latin typeface="Lato"/>
                <a:ea typeface="Lato"/>
                <a:cs typeface="Lato"/>
                <a:sym typeface="Lato"/>
              </a:rPr>
              <a:t>Interpreting the X-11 Decomposition</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Data (Top chart):</a:t>
            </a:r>
            <a:r>
              <a:rPr lang="en" sz="1400">
                <a:solidFill>
                  <a:schemeClr val="dk1"/>
                </a:solidFill>
                <a:latin typeface="Lato"/>
                <a:ea typeface="Lato"/>
                <a:cs typeface="Lato"/>
                <a:sym typeface="Lato"/>
              </a:rPr>
              <a:t> This is the original time series of US retail employment. You’ll notice a clear upward trend but with very sharp, regular spikes and dips occurring every year.</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Trend (Second Chart):</a:t>
            </a:r>
            <a:r>
              <a:rPr lang="en" sz="1400">
                <a:solidFill>
                  <a:schemeClr val="dk1"/>
                </a:solidFill>
                <a:latin typeface="Lato"/>
                <a:ea typeface="Lato"/>
                <a:cs typeface="Lato"/>
                <a:sym typeface="Lato"/>
              </a:rPr>
              <a:t> The X-11 method has smoothed out the seasonal "noise." This line shows the long-term direction of retail employment, revealing economic growth periods or recessions (like the 2008 crash or 2020 dip) more clearly than the raw data.</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Seasonal (Third Chart):</a:t>
            </a:r>
            <a:r>
              <a:rPr lang="en" sz="1400">
                <a:solidFill>
                  <a:schemeClr val="dk1"/>
                </a:solidFill>
                <a:latin typeface="Lato"/>
                <a:ea typeface="Lato"/>
                <a:cs typeface="Lato"/>
                <a:sym typeface="Lato"/>
              </a:rPr>
              <a:t> This isolates the "holiday effect." In retail, you’ll see a massive peak every December followed by a January drop. Because this is X-11, look closely at the peaks; you might notice they aren't identical every year, as the model allows this pattern to </a:t>
            </a:r>
            <a:r>
              <a:rPr b="1" lang="en" sz="1400">
                <a:solidFill>
                  <a:schemeClr val="dk1"/>
                </a:solidFill>
                <a:latin typeface="Lato"/>
                <a:ea typeface="Lato"/>
                <a:cs typeface="Lato"/>
                <a:sym typeface="Lato"/>
              </a:rPr>
              <a:t>evolve over time</a:t>
            </a:r>
            <a:r>
              <a:rPr lang="en" sz="1400">
                <a:solidFill>
                  <a:schemeClr val="dk1"/>
                </a:solidFill>
                <a:latin typeface="Lato"/>
                <a:ea typeface="Lato"/>
                <a:cs typeface="Lato"/>
                <a:sym typeface="Lato"/>
              </a:rPr>
              <a:t>.</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Remainder (Bottom Chart):</a:t>
            </a:r>
            <a:r>
              <a:rPr lang="en" sz="1400">
                <a:solidFill>
                  <a:schemeClr val="dk1"/>
                </a:solidFill>
                <a:latin typeface="Lato"/>
                <a:ea typeface="Lato"/>
                <a:cs typeface="Lato"/>
                <a:sym typeface="Lato"/>
              </a:rPr>
              <a:t> This is what’s left after removing the trend and seasonality. It represents "random noise" or "shocks." If there are large spikes here, it indicates unusual events like a strike or a specific economic shock that the seasonal and trend components couldn't explain.</a:t>
            </a:r>
            <a:endParaRPr sz="1400">
              <a:solidFill>
                <a:schemeClr val="dk1"/>
              </a:solidFill>
              <a:latin typeface="Lato"/>
              <a:ea typeface="Lato"/>
              <a:cs typeface="Lato"/>
              <a:sym typeface="Lato"/>
            </a:endParaRPr>
          </a:p>
          <a:p>
            <a:pPr indent="0" lvl="0" marL="0" rtl="0" algn="l">
              <a:lnSpc>
                <a:spcPct val="200000"/>
              </a:lnSpc>
              <a:spcBef>
                <a:spcPts val="1400"/>
              </a:spcBef>
              <a:spcAft>
                <a:spcPts val="0"/>
              </a:spcAft>
              <a:buNone/>
            </a:pPr>
            <a:r>
              <a:rPr b="1" lang="en" sz="1400">
                <a:solidFill>
                  <a:schemeClr val="dk1"/>
                </a:solidFill>
                <a:latin typeface="Lato"/>
                <a:ea typeface="Lato"/>
                <a:cs typeface="Lato"/>
                <a:sym typeface="Lato"/>
              </a:rPr>
              <a:t>Conclusion:</a:t>
            </a:r>
            <a:endParaRPr b="1" sz="1400">
              <a:solidFill>
                <a:schemeClr val="dk1"/>
              </a:solidFill>
              <a:latin typeface="Lato"/>
              <a:ea typeface="Lato"/>
              <a:cs typeface="Lato"/>
              <a:sym typeface="Lato"/>
            </a:endParaRPr>
          </a:p>
          <a:p>
            <a:pPr indent="0" lvl="0" marL="0" rtl="0" algn="l">
              <a:lnSpc>
                <a:spcPct val="200000"/>
              </a:lnSpc>
              <a:spcBef>
                <a:spcPts val="1800"/>
              </a:spcBef>
              <a:spcAft>
                <a:spcPts val="0"/>
              </a:spcAft>
              <a:buNone/>
            </a:pPr>
            <a:r>
              <a:rPr b="1" lang="en" sz="1400">
                <a:solidFill>
                  <a:schemeClr val="dk1"/>
                </a:solidFill>
                <a:latin typeface="Lato"/>
                <a:ea typeface="Lato"/>
                <a:cs typeface="Lato"/>
                <a:sym typeface="Lato"/>
              </a:rPr>
              <a:t>What the "ARIMA" part does, it  "pre-adjusts" the data by forecasting the ends of the series to make the decomposition more accurate.</a:t>
            </a:r>
            <a:endParaRPr b="1" sz="1400">
              <a:solidFill>
                <a:schemeClr val="dk1"/>
              </a:solidFill>
              <a:latin typeface="Lato"/>
              <a:ea typeface="Lato"/>
              <a:cs typeface="Lato"/>
              <a:sym typeface="Lato"/>
            </a:endParaRPr>
          </a:p>
          <a:p>
            <a:pPr indent="0" lvl="0" marL="0" rtl="0" algn="l">
              <a:lnSpc>
                <a:spcPct val="200000"/>
              </a:lnSpc>
              <a:spcBef>
                <a:spcPts val="1400"/>
              </a:spcBef>
              <a:spcAft>
                <a:spcPts val="0"/>
              </a:spcAft>
              <a:buClr>
                <a:schemeClr val="dk1"/>
              </a:buClr>
              <a:buSzPts val="1100"/>
              <a:buFont typeface="Arial"/>
              <a:buNone/>
            </a:pPr>
            <a:r>
              <a:rPr lang="en" sz="1400">
                <a:solidFill>
                  <a:schemeClr val="dk1"/>
                </a:solidFill>
                <a:latin typeface="Lato"/>
                <a:ea typeface="Lato"/>
                <a:cs typeface="Lato"/>
                <a:sym typeface="Lato"/>
              </a:rPr>
              <a:t>The primary goal of using X-11 here is </a:t>
            </a:r>
            <a:r>
              <a:rPr b="1" lang="en" sz="1400">
                <a:solidFill>
                  <a:schemeClr val="dk1"/>
                </a:solidFill>
                <a:latin typeface="Lato"/>
                <a:ea typeface="Lato"/>
                <a:cs typeface="Lato"/>
                <a:sym typeface="Lato"/>
              </a:rPr>
              <a:t>Seasonal Adjustment</a:t>
            </a:r>
            <a:r>
              <a:rPr lang="en" sz="1400">
                <a:solidFill>
                  <a:schemeClr val="dk1"/>
                </a:solidFill>
                <a:latin typeface="Lato"/>
                <a:ea typeface="Lato"/>
                <a:cs typeface="Lato"/>
                <a:sym typeface="Lato"/>
              </a:rPr>
              <a:t>. By subtracting the "Seasonal" panel from the "Data" panel, economists get the "Seasonally Adjusted" figure, which tells them if employment is </a:t>
            </a:r>
            <a:r>
              <a:rPr i="1" lang="en" sz="1400">
                <a:solidFill>
                  <a:schemeClr val="dk1"/>
                </a:solidFill>
                <a:latin typeface="Lato"/>
                <a:ea typeface="Lato"/>
                <a:cs typeface="Lato"/>
                <a:sym typeface="Lato"/>
              </a:rPr>
              <a:t>actually</a:t>
            </a:r>
            <a:r>
              <a:rPr lang="en" sz="1400">
                <a:solidFill>
                  <a:schemeClr val="dk1"/>
                </a:solidFill>
                <a:latin typeface="Lato"/>
                <a:ea typeface="Lato"/>
                <a:cs typeface="Lato"/>
                <a:sym typeface="Lato"/>
              </a:rPr>
              <a:t> growing or if the increase is just the typical holiday hiring surge.</a:t>
            </a:r>
            <a:endParaRPr sz="1400">
              <a:solidFill>
                <a:schemeClr val="dk1"/>
              </a:solidFill>
              <a:latin typeface="Lato"/>
              <a:ea typeface="Lato"/>
              <a:cs typeface="Lato"/>
              <a:sym typeface="Lato"/>
            </a:endParaRPr>
          </a:p>
          <a:p>
            <a:pPr indent="0" lvl="0" marL="0" rtl="0" algn="l">
              <a:spcBef>
                <a:spcPts val="40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939bf5aee3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939bf5aee3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800"/>
              </a:spcBef>
              <a:spcAft>
                <a:spcPts val="0"/>
              </a:spcAft>
              <a:buNone/>
            </a:pPr>
            <a:r>
              <a:rPr b="1" lang="en" sz="1400">
                <a:solidFill>
                  <a:schemeClr val="dk1"/>
                </a:solidFill>
                <a:latin typeface="Lato"/>
                <a:ea typeface="Lato"/>
                <a:cs typeface="Lato"/>
                <a:sym typeface="Lato"/>
              </a:rPr>
              <a:t>Speaker Notes</a:t>
            </a:r>
            <a:endParaRPr b="1" sz="1400">
              <a:solidFill>
                <a:schemeClr val="dk1"/>
              </a:solidFill>
              <a:latin typeface="Lato"/>
              <a:ea typeface="Lato"/>
              <a:cs typeface="Lato"/>
              <a:sym typeface="Lato"/>
            </a:endParaRPr>
          </a:p>
          <a:p>
            <a:pPr indent="0" lvl="0" marL="0" rtl="0" algn="l">
              <a:lnSpc>
                <a:spcPct val="200000"/>
              </a:lnSpc>
              <a:spcBef>
                <a:spcPts val="1800"/>
              </a:spcBef>
              <a:spcAft>
                <a:spcPts val="0"/>
              </a:spcAft>
              <a:buClr>
                <a:schemeClr val="dk1"/>
              </a:buClr>
              <a:buSzPts val="1100"/>
              <a:buFont typeface="Arial"/>
              <a:buNone/>
            </a:pPr>
            <a:r>
              <a:rPr lang="en" sz="1400">
                <a:solidFill>
                  <a:schemeClr val="dk1"/>
                </a:solidFill>
                <a:latin typeface="Lato"/>
                <a:ea typeface="Lato"/>
                <a:cs typeface="Lato"/>
                <a:sym typeface="Lato"/>
              </a:rPr>
              <a:t>Think of SEATS as the more 'academic' cousin of X-11. While X-11 uses a series of clever moving averages, SEATS uses the power of </a:t>
            </a:r>
            <a:r>
              <a:rPr b="1" lang="en" sz="1400">
                <a:solidFill>
                  <a:schemeClr val="dk1"/>
                </a:solidFill>
                <a:latin typeface="Lato"/>
                <a:ea typeface="Lato"/>
                <a:cs typeface="Lato"/>
                <a:sym typeface="Lato"/>
              </a:rPr>
              <a:t>ARIMA models</a:t>
            </a:r>
            <a:r>
              <a:rPr lang="en" sz="1400">
                <a:solidFill>
                  <a:schemeClr val="dk1"/>
                </a:solidFill>
                <a:latin typeface="Lato"/>
                <a:ea typeface="Lato"/>
                <a:cs typeface="Lato"/>
                <a:sym typeface="Lato"/>
              </a:rPr>
              <a:t> to extract components."</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Model-Based Approach:</a:t>
            </a:r>
            <a:r>
              <a:rPr lang="en" sz="1400">
                <a:solidFill>
                  <a:schemeClr val="dk1"/>
                </a:solidFill>
                <a:latin typeface="Lato"/>
                <a:ea typeface="Lato"/>
                <a:cs typeface="Lato"/>
                <a:sym typeface="Lato"/>
              </a:rPr>
              <a:t> While X-11 is essentially a smart set of 'rules of thumb' or an algorithm, SEATS is model-based. It uses ARIMA models to represent the different parts of the data. This moves us from 'empirical guessing' to 'statistical estimation.</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Statistical Rigor:</a:t>
            </a:r>
            <a:r>
              <a:rPr lang="en" sz="1400">
                <a:solidFill>
                  <a:schemeClr val="dk1"/>
                </a:solidFill>
                <a:latin typeface="Lato"/>
                <a:ea typeface="Lato"/>
                <a:cs typeface="Lato"/>
                <a:sym typeface="Lato"/>
              </a:rPr>
              <a:t> Because it’s based on formal models, every part of the decomposition has a mathematical justification. We aren't just smoothing the line because an algorithm said so; we are doing it because the underlying math of the time series suggests that specific structure.</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Prediction Intervals:</a:t>
            </a:r>
            <a:r>
              <a:rPr lang="en" sz="1400">
                <a:solidFill>
                  <a:schemeClr val="dk1"/>
                </a:solidFill>
                <a:latin typeface="Lato"/>
                <a:ea typeface="Lato"/>
                <a:cs typeface="Lato"/>
                <a:sym typeface="Lato"/>
              </a:rPr>
              <a:t> This is a huge win over X-11. Because SEATS is statistical, it can produce prediction intervals. This means we can actually quantify how much 'uncertainty' is in our trend or our seasonal estimate, which is vital for risk assessment.</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Sophisticated Filtering:</a:t>
            </a:r>
            <a:r>
              <a:rPr lang="en" sz="1400">
                <a:solidFill>
                  <a:schemeClr val="dk1"/>
                </a:solidFill>
                <a:latin typeface="Lato"/>
                <a:ea typeface="Lato"/>
                <a:cs typeface="Lato"/>
                <a:sym typeface="Lato"/>
              </a:rPr>
              <a:t> SEATS is 'tailor-made' for your specific data. Instead of using a standard set of filters for every series, it analyzes the data's properties first and then constructs the optimal filter to extract the trend and seasonality.</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Modern Standard:</a:t>
            </a:r>
            <a:r>
              <a:rPr lang="en" sz="1400">
                <a:solidFill>
                  <a:schemeClr val="dk1"/>
                </a:solidFill>
                <a:latin typeface="Lato"/>
                <a:ea typeface="Lato"/>
                <a:cs typeface="Lato"/>
                <a:sym typeface="Lato"/>
              </a:rPr>
              <a:t> Today, you don’t really have to choose between X-11 and SEATS. Modern software, like the </a:t>
            </a:r>
            <a:r>
              <a:rPr lang="en" sz="1400">
                <a:solidFill>
                  <a:srgbClr val="188038"/>
                </a:solidFill>
                <a:latin typeface="Lato"/>
                <a:ea typeface="Lato"/>
                <a:cs typeface="Lato"/>
                <a:sym typeface="Lato"/>
              </a:rPr>
              <a:t>X_13ARIMA_SEATS()</a:t>
            </a:r>
            <a:r>
              <a:rPr lang="en" sz="1400">
                <a:solidFill>
                  <a:schemeClr val="dk1"/>
                </a:solidFill>
                <a:latin typeface="Lato"/>
                <a:ea typeface="Lato"/>
                <a:cs typeface="Lato"/>
                <a:sym typeface="Lato"/>
              </a:rPr>
              <a:t> function we use in R, allows these methods to work together to give us the most accurate seasonal adjustment possible.</a:t>
            </a:r>
            <a:endParaRPr sz="1400">
              <a:latin typeface="Lato"/>
              <a:ea typeface="Lato"/>
              <a:cs typeface="Lato"/>
              <a:sym typeface="La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939bf5aee3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939bf5aee3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400"/>
              </a:spcBef>
              <a:spcAft>
                <a:spcPts val="0"/>
              </a:spcAft>
              <a:buClr>
                <a:schemeClr val="dk1"/>
              </a:buClr>
              <a:buSzPts val="1100"/>
              <a:buFont typeface="Arial"/>
              <a:buNone/>
            </a:pPr>
            <a:r>
              <a:rPr b="1" lang="en" sz="1400">
                <a:solidFill>
                  <a:schemeClr val="dk1"/>
                </a:solidFill>
                <a:latin typeface="Lato"/>
                <a:ea typeface="Lato"/>
                <a:cs typeface="Lato"/>
                <a:sym typeface="Lato"/>
              </a:rPr>
              <a:t>Speaker Notes</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Complexity:</a:t>
            </a:r>
            <a:r>
              <a:rPr lang="en" sz="1400">
                <a:solidFill>
                  <a:schemeClr val="dk1"/>
                </a:solidFill>
                <a:latin typeface="Lato"/>
                <a:ea typeface="Lato"/>
                <a:cs typeface="Lato"/>
                <a:sym typeface="Lato"/>
              </a:rPr>
              <a:t> Unlike simple moving averages, SEATS is mathematically dense. If you aren't comfortable with ARIMA modeling, the underlying mechanics can be difficult to troubleshoot.</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Rigid Frequency:</a:t>
            </a:r>
            <a:r>
              <a:rPr lang="en" sz="1400">
                <a:solidFill>
                  <a:schemeClr val="dk1"/>
                </a:solidFill>
                <a:latin typeface="Lato"/>
                <a:ea typeface="Lato"/>
                <a:cs typeface="Lato"/>
                <a:sym typeface="Lato"/>
              </a:rPr>
              <a:t> It’s a legacy tool for economists. If your data is daily or hourly, SEATS simply won't work—it’s built for standard 4 and 12-period cycles.</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Single Seasonality:</a:t>
            </a:r>
            <a:r>
              <a:rPr lang="en" sz="1400">
                <a:solidFill>
                  <a:schemeClr val="dk1"/>
                </a:solidFill>
                <a:latin typeface="Lato"/>
                <a:ea typeface="Lato"/>
                <a:cs typeface="Lato"/>
                <a:sym typeface="Lato"/>
              </a:rPr>
              <a:t> It struggles with 'nested' patterns. For example, it can't simultaneously track a 'Friday surge' and a 'December surge' in the same dataset.</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Model Dependent:</a:t>
            </a:r>
            <a:r>
              <a:rPr lang="en" sz="1400">
                <a:solidFill>
                  <a:schemeClr val="dk1"/>
                </a:solidFill>
                <a:latin typeface="Lato"/>
                <a:ea typeface="Lato"/>
                <a:cs typeface="Lato"/>
                <a:sym typeface="Lato"/>
              </a:rPr>
              <a:t> The output is only as good as the model. If you pick the wrong ARIMA specification at the start, your trend and seasonal lines will be misleading.</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"Black Box" Feel:</a:t>
            </a:r>
            <a:r>
              <a:rPr lang="en" sz="1400">
                <a:solidFill>
                  <a:schemeClr val="dk1"/>
                </a:solidFill>
                <a:latin typeface="Lato"/>
                <a:ea typeface="Lato"/>
                <a:cs typeface="Lato"/>
                <a:sym typeface="Lato"/>
              </a:rPr>
              <a:t> It’s much easier to explain a '12-month average' than 'signal extraction via ARIMA partitioning.</a:t>
            </a:r>
            <a:endParaRPr sz="1400">
              <a:solidFill>
                <a:schemeClr val="dk1"/>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939bf5aee3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939bf5aee3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200000"/>
              </a:lnSpc>
              <a:spcBef>
                <a:spcPts val="1400"/>
              </a:spcBef>
              <a:spcAft>
                <a:spcPts val="0"/>
              </a:spcAft>
              <a:buClr>
                <a:schemeClr val="dk1"/>
              </a:buClr>
              <a:buSzPts val="1100"/>
              <a:buFont typeface="Arial"/>
              <a:buNone/>
            </a:pPr>
            <a:r>
              <a:rPr b="1" lang="en" sz="1400">
                <a:solidFill>
                  <a:schemeClr val="dk1"/>
                </a:solidFill>
                <a:latin typeface="Lato"/>
                <a:ea typeface="Lato"/>
                <a:cs typeface="Lato"/>
                <a:sym typeface="Lato"/>
              </a:rPr>
              <a:t>Speaker Notes: Interpreting the SEATS Chart</a:t>
            </a:r>
            <a:endParaRPr b="1" sz="1400">
              <a:solidFill>
                <a:schemeClr val="dk1"/>
              </a:solidFill>
              <a:latin typeface="Lato"/>
              <a:ea typeface="Lato"/>
              <a:cs typeface="Lato"/>
              <a:sym typeface="Lato"/>
            </a:endParaRPr>
          </a:p>
          <a:p>
            <a:pPr indent="-317500" lvl="0" marL="457200" rtl="0" algn="l">
              <a:lnSpc>
                <a:spcPct val="200000"/>
              </a:lnSpc>
              <a:spcBef>
                <a:spcPts val="1200"/>
              </a:spcBef>
              <a:spcAft>
                <a:spcPts val="0"/>
              </a:spcAft>
              <a:buClr>
                <a:schemeClr val="dk1"/>
              </a:buClr>
              <a:buSzPts val="1400"/>
              <a:buChar char="●"/>
            </a:pPr>
            <a:r>
              <a:rPr b="1" lang="en" sz="1400">
                <a:solidFill>
                  <a:schemeClr val="dk1"/>
                </a:solidFill>
                <a:latin typeface="Lato"/>
                <a:ea typeface="Lato"/>
                <a:cs typeface="Lato"/>
                <a:sym typeface="Lato"/>
              </a:rPr>
              <a:t>Overall Layout:</a:t>
            </a:r>
            <a:r>
              <a:rPr lang="en" sz="1400">
                <a:solidFill>
                  <a:schemeClr val="dk1"/>
                </a:solidFill>
                <a:latin typeface="Lato"/>
                <a:ea typeface="Lato"/>
                <a:cs typeface="Lato"/>
                <a:sym typeface="Lato"/>
              </a:rPr>
              <a:t> Like X-11, this </a:t>
            </a:r>
            <a:r>
              <a:rPr lang="en" sz="1400">
                <a:solidFill>
                  <a:srgbClr val="188038"/>
                </a:solidFill>
                <a:latin typeface="Lato"/>
                <a:ea typeface="Lato"/>
                <a:cs typeface="Lato"/>
                <a:sym typeface="Lato"/>
              </a:rPr>
              <a:t>autoplot</a:t>
            </a:r>
            <a:r>
              <a:rPr lang="en" sz="1400">
                <a:solidFill>
                  <a:schemeClr val="dk1"/>
                </a:solidFill>
                <a:latin typeface="Lato"/>
                <a:ea typeface="Lato"/>
                <a:cs typeface="Lato"/>
                <a:sym typeface="Lato"/>
              </a:rPr>
              <a:t> gives us four panels: the original data, the trend-cycle, the seasonal component, and the remainder. While it looks similar to the X-11 output, these lines are derived from a formal ARIMA model.</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The Trend-Cycle (chart 2):</a:t>
            </a:r>
            <a:r>
              <a:rPr lang="en" sz="1400">
                <a:solidFill>
                  <a:schemeClr val="dk1"/>
                </a:solidFill>
                <a:latin typeface="Lato"/>
                <a:ea typeface="Lato"/>
                <a:cs typeface="Lato"/>
                <a:sym typeface="Lato"/>
              </a:rPr>
              <a:t> Notice how smooth this line is. Because SEATS uses model-based filters tailored specifically to this retail data, it’s exceptionally good at identifying the underlying economic direction, even during volatile periods like the 2008 recession.</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The Seasonal Component (Chart 3):</a:t>
            </a:r>
            <a:r>
              <a:rPr lang="en" sz="1400">
                <a:solidFill>
                  <a:schemeClr val="dk1"/>
                </a:solidFill>
                <a:latin typeface="Lato"/>
                <a:ea typeface="Lato"/>
                <a:cs typeface="Lato"/>
                <a:sym typeface="Lato"/>
              </a:rPr>
              <a:t> This is the 'Seasonal Extraction.' Because it is model-based, SEATS is very precise at identifying the holiday peaks. If you look closely at the scale, you can see exactly how many hundreds of thousands of jobs are attributed purely to the time of year.</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The Remainder (Chart 4):</a:t>
            </a:r>
            <a:r>
              <a:rPr lang="en" sz="1400">
                <a:solidFill>
                  <a:schemeClr val="dk1"/>
                </a:solidFill>
                <a:latin typeface="Lato"/>
                <a:ea typeface="Lato"/>
                <a:cs typeface="Lato"/>
                <a:sym typeface="Lato"/>
              </a:rPr>
              <a:t> This is our 'check' for model quality. We want this to look like random noise. If we saw patterns here, it would suggest our ARIMA model didn't fully capture the structure of the retail employment data.</a:t>
            </a:r>
            <a:endParaRPr sz="1400">
              <a:solidFill>
                <a:schemeClr val="dk1"/>
              </a:solidFill>
              <a:latin typeface="Lato"/>
              <a:ea typeface="Lato"/>
              <a:cs typeface="Lato"/>
              <a:sym typeface="Lato"/>
            </a:endParaRPr>
          </a:p>
          <a:p>
            <a:pPr indent="-317500" lvl="0" marL="457200" rtl="0" algn="l">
              <a:lnSpc>
                <a:spcPct val="200000"/>
              </a:lnSpc>
              <a:spcBef>
                <a:spcPts val="0"/>
              </a:spcBef>
              <a:spcAft>
                <a:spcPts val="0"/>
              </a:spcAft>
              <a:buClr>
                <a:schemeClr val="dk1"/>
              </a:buClr>
              <a:buSzPts val="1400"/>
              <a:buChar char="●"/>
            </a:pPr>
            <a:r>
              <a:rPr b="1" lang="en" sz="1400">
                <a:solidFill>
                  <a:schemeClr val="dk1"/>
                </a:solidFill>
                <a:latin typeface="Lato"/>
                <a:ea typeface="Lato"/>
                <a:cs typeface="Lato"/>
                <a:sym typeface="Lato"/>
              </a:rPr>
              <a:t>Key Takeaway:</a:t>
            </a:r>
            <a:r>
              <a:rPr lang="en" sz="1400">
                <a:solidFill>
                  <a:schemeClr val="dk1"/>
                </a:solidFill>
                <a:latin typeface="Lato"/>
                <a:ea typeface="Lato"/>
                <a:cs typeface="Lato"/>
                <a:sym typeface="Lato"/>
              </a:rPr>
              <a:t> The main difference here is that if we needed to, we could calculate </a:t>
            </a:r>
            <a:r>
              <a:rPr b="1" lang="en" sz="1400">
                <a:solidFill>
                  <a:schemeClr val="dk1"/>
                </a:solidFill>
                <a:latin typeface="Lato"/>
                <a:ea typeface="Lato"/>
                <a:cs typeface="Lato"/>
                <a:sym typeface="Lato"/>
              </a:rPr>
              <a:t>prediction intervals</a:t>
            </a:r>
            <a:r>
              <a:rPr lang="en" sz="1400">
                <a:solidFill>
                  <a:schemeClr val="dk1"/>
                </a:solidFill>
                <a:latin typeface="Lato"/>
                <a:ea typeface="Lato"/>
                <a:cs typeface="Lato"/>
                <a:sym typeface="Lato"/>
              </a:rPr>
              <a:t> for these lines because they are based on a statistical model, not just an iterative algorithm.</a:t>
            </a:r>
            <a:endParaRPr sz="1400">
              <a:solidFill>
                <a:schemeClr val="dk1"/>
              </a:solidFill>
              <a:latin typeface="Lato"/>
              <a:ea typeface="Lato"/>
              <a:cs typeface="Lato"/>
              <a:sym typeface="Lato"/>
            </a:endParaRPr>
          </a:p>
          <a:p>
            <a:pPr indent="0" lvl="0" marL="0" rtl="0" algn="l">
              <a:spcBef>
                <a:spcPts val="120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39bf5ae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939bf5ae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79400" lvl="0" marL="279400" rtl="0" algn="l">
              <a:lnSpc>
                <a:spcPct val="115000"/>
              </a:lnSpc>
              <a:spcBef>
                <a:spcPts val="0"/>
              </a:spcBef>
              <a:spcAft>
                <a:spcPts val="0"/>
              </a:spcAft>
              <a:buClr>
                <a:schemeClr val="dk1"/>
              </a:buClr>
              <a:buSzPts val="1100"/>
              <a:buFont typeface="Arial"/>
              <a:buNone/>
            </a:pPr>
            <a:r>
              <a:rPr lang="en" sz="1200">
                <a:solidFill>
                  <a:schemeClr val="dk1"/>
                </a:solidFill>
              </a:rPr>
              <a:t>Two loops – inner + outer</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Inner loop calculates seasonal and trend components</a:t>
            </a: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Seasonal smoothing -&gt; de-seasonalized -&gt; Trend smoothing</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lang="en" sz="1200">
                <a:solidFill>
                  <a:schemeClr val="dk1"/>
                </a:solidFill>
              </a:rPr>
              <a:t>Outer loop computes robustness weights, which are used in the next inner loop</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939bf5aee3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939bf5aee3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333333"/>
              </a:buClr>
              <a:buSzPts val="1200"/>
              <a:buChar char="●"/>
            </a:pPr>
            <a:r>
              <a:rPr lang="en" sz="1200">
                <a:solidFill>
                  <a:srgbClr val="333333"/>
                </a:solidFill>
              </a:rPr>
              <a:t>A multiplicative decomposition can be obtained by first taking logs of the data, then back-transforming the components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939bf5aee3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939bf5aee3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Char char="●"/>
            </a:pPr>
            <a:r>
              <a:rPr lang="en" sz="1200">
                <a:solidFill>
                  <a:srgbClr val="262626"/>
                </a:solidFill>
              </a:rPr>
              <a:t>Trend window size is the number of consecutive observations to be used when estimating the trend-cycle</a:t>
            </a:r>
            <a:endParaRPr sz="1200">
              <a:solidFill>
                <a:srgbClr val="262626"/>
              </a:solidFill>
            </a:endParaRPr>
          </a:p>
          <a:p>
            <a:pPr indent="-330200" lvl="0" marL="457200" rtl="0" algn="l">
              <a:lnSpc>
                <a:spcPct val="115000"/>
              </a:lnSpc>
              <a:spcBef>
                <a:spcPts val="0"/>
              </a:spcBef>
              <a:spcAft>
                <a:spcPts val="0"/>
              </a:spcAft>
              <a:buClr>
                <a:schemeClr val="dk1"/>
              </a:buClr>
              <a:buSzPts val="1600"/>
              <a:buChar char="●"/>
            </a:pPr>
            <a:r>
              <a:rPr lang="en" sz="1200">
                <a:solidFill>
                  <a:srgbClr val="262626"/>
                </a:solidFill>
              </a:rPr>
              <a:t>Season window size is the number of consecutive years to be used in estimating each value in the seasonal component</a:t>
            </a:r>
            <a:endParaRPr sz="1200">
              <a:solidFill>
                <a:srgbClr val="262626"/>
              </a:solidFill>
            </a:endParaRPr>
          </a:p>
          <a:p>
            <a:pPr indent="-330200" lvl="0" marL="457200" rtl="0" algn="l">
              <a:lnSpc>
                <a:spcPct val="115000"/>
              </a:lnSpc>
              <a:spcBef>
                <a:spcPts val="0"/>
              </a:spcBef>
              <a:spcAft>
                <a:spcPts val="0"/>
              </a:spcAft>
              <a:buClr>
                <a:schemeClr val="dk1"/>
              </a:buClr>
              <a:buSzPts val="1600"/>
              <a:buChar char="●"/>
            </a:pPr>
            <a:r>
              <a:rPr lang="en" sz="1200">
                <a:solidFill>
                  <a:schemeClr val="dk1"/>
                </a:solidFill>
              </a:rPr>
              <a:t>Parameters need to be odd; smaller values result in flatter curve</a:t>
            </a:r>
            <a:endParaRPr sz="1200">
              <a:solidFill>
                <a:srgbClr val="262626"/>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939bf5aee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939bf5aee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939bf5aee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939bf5aee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9.png"/><Relationship Id="rId4" Type="http://schemas.openxmlformats.org/officeDocument/2006/relationships/image" Target="../media/image13.png"/><Relationship Id="rId5"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Time Series Decomposition</a:t>
            </a:r>
            <a:endParaRPr/>
          </a:p>
        </p:txBody>
      </p:sp>
      <p:sp>
        <p:nvSpPr>
          <p:cNvPr id="87" name="Google Shape;87;p13"/>
          <p:cNvSpPr txBox="1"/>
          <p:nvPr>
            <p:ph idx="1" type="subTitle"/>
          </p:nvPr>
        </p:nvSpPr>
        <p:spPr>
          <a:xfrm>
            <a:off x="729625" y="3172900"/>
            <a:ext cx="7688100" cy="800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solidFill>
                  <a:schemeClr val="dk2"/>
                </a:solidFill>
                <a:latin typeface="Raleway"/>
                <a:ea typeface="Raleway"/>
                <a:cs typeface="Raleway"/>
                <a:sym typeface="Raleway"/>
              </a:rPr>
              <a:t>Farhod Ibragimov, Mubashira Qari, Alexander Simon, Jackie Yee </a:t>
            </a:r>
            <a:endParaRPr b="1" sz="1800">
              <a:solidFill>
                <a:schemeClr val="dk2"/>
              </a:solidFill>
              <a:latin typeface="Raleway"/>
              <a:ea typeface="Raleway"/>
              <a:cs typeface="Raleway"/>
              <a:sym typeface="Raleway"/>
            </a:endParaRPr>
          </a:p>
          <a:p>
            <a:pPr indent="0" lvl="0" marL="0" rtl="0" algn="l">
              <a:spcBef>
                <a:spcPts val="0"/>
              </a:spcBef>
              <a:spcAft>
                <a:spcPts val="0"/>
              </a:spcAft>
              <a:buNone/>
            </a:pPr>
            <a:r>
              <a:rPr b="1" lang="en" sz="1800">
                <a:solidFill>
                  <a:schemeClr val="dk2"/>
                </a:solidFill>
                <a:latin typeface="Raleway"/>
                <a:ea typeface="Raleway"/>
                <a:cs typeface="Raleway"/>
                <a:sym typeface="Raleway"/>
              </a:rPr>
              <a:t>DATA 624</a:t>
            </a:r>
            <a:endParaRPr sz="1800"/>
          </a:p>
        </p:txBody>
      </p:sp>
      <p:sp>
        <p:nvSpPr>
          <p:cNvPr id="88" name="Google Shape;88;p13"/>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Adjustments and Transformations</a:t>
            </a:r>
            <a:endParaRPr/>
          </a:p>
        </p:txBody>
      </p:sp>
      <p:sp>
        <p:nvSpPr>
          <p:cNvPr id="94" name="Google Shape;94;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800"/>
              <a:t>When decomposing a time series, it can be helpful to first transform or adjust the series to make the decomposition as </a:t>
            </a:r>
            <a:r>
              <a:rPr lang="en" sz="1800"/>
              <a:t>simple</a:t>
            </a:r>
            <a:r>
              <a:rPr lang="en" sz="1800"/>
              <a:t> as possible.</a:t>
            </a:r>
            <a:endParaRPr sz="1800"/>
          </a:p>
        </p:txBody>
      </p:sp>
      <p:sp>
        <p:nvSpPr>
          <p:cNvPr id="95" name="Google Shape;95;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 name="Google Shape;96;p14"/>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Calendar Adjustments</a:t>
            </a:r>
            <a:endParaRPr/>
          </a:p>
        </p:txBody>
      </p:sp>
      <p:sp>
        <p:nvSpPr>
          <p:cNvPr id="102" name="Google Shape;102;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A bit of </a:t>
            </a:r>
            <a:r>
              <a:rPr lang="en" sz="1800"/>
              <a:t>variation</a:t>
            </a:r>
            <a:r>
              <a:rPr lang="en" sz="1800"/>
              <a:t> in seasonal data can be due to calendar effects, and this can be usually resolved by removing variation before further analysis.</a:t>
            </a:r>
            <a:endParaRPr sz="1800"/>
          </a:p>
          <a:p>
            <a:pPr indent="-342900" lvl="0" marL="457200" rtl="0" algn="l">
              <a:spcBef>
                <a:spcPts val="1200"/>
              </a:spcBef>
              <a:spcAft>
                <a:spcPts val="0"/>
              </a:spcAft>
              <a:buSzPts val="1800"/>
              <a:buChar char="●"/>
            </a:pPr>
            <a:r>
              <a:rPr lang="en" sz="1800"/>
              <a:t>Example: A manufacturing plant wants to analyze season patterns, but total month</a:t>
            </a:r>
            <a:r>
              <a:rPr lang="en" sz="1800"/>
              <a:t>ly productions are distorted due to differing numbers of operating days.</a:t>
            </a:r>
            <a:endParaRPr sz="1800"/>
          </a:p>
        </p:txBody>
      </p:sp>
      <p:sp>
        <p:nvSpPr>
          <p:cNvPr id="103" name="Google Shape;103;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4" name="Google Shape;104;p15"/>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Population Adjustments</a:t>
            </a:r>
            <a:endParaRPr/>
          </a:p>
        </p:txBody>
      </p:sp>
      <p:sp>
        <p:nvSpPr>
          <p:cNvPr id="110" name="Google Shape;110;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Data affected by population changes can be adjusted to give per-capita data. (Consider data per person, per thousand people, or per million people)</a:t>
            </a:r>
            <a:endParaRPr sz="1800"/>
          </a:p>
          <a:p>
            <a:pPr indent="-342900" lvl="0" marL="457200" rtl="0" algn="l">
              <a:spcBef>
                <a:spcPts val="1200"/>
              </a:spcBef>
              <a:spcAft>
                <a:spcPts val="0"/>
              </a:spcAft>
              <a:buSzPts val="1800"/>
              <a:buChar char="●"/>
            </a:pPr>
            <a:r>
              <a:rPr lang="en" sz="1800"/>
              <a:t>Example: You are studying the number of beds per thousand people.</a:t>
            </a:r>
            <a:endParaRPr sz="1800"/>
          </a:p>
        </p:txBody>
      </p:sp>
      <p:sp>
        <p:nvSpPr>
          <p:cNvPr id="111" name="Google Shape;111;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16"/>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Inflation Adjustments</a:t>
            </a:r>
            <a:endParaRPr/>
          </a:p>
        </p:txBody>
      </p:sp>
      <p:sp>
        <p:nvSpPr>
          <p:cNvPr id="118" name="Google Shape;118;p17"/>
          <p:cNvSpPr txBox="1"/>
          <p:nvPr>
            <p:ph idx="1" type="body"/>
          </p:nvPr>
        </p:nvSpPr>
        <p:spPr>
          <a:xfrm>
            <a:off x="729450" y="2078875"/>
            <a:ext cx="7688700" cy="2757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800"/>
              <a:t>The data that is affected by value of money is best adjusted before modeling. </a:t>
            </a:r>
            <a:endParaRPr sz="1800"/>
          </a:p>
          <a:p>
            <a:pPr indent="-342900" lvl="0" marL="457200" rtl="0" algn="l">
              <a:spcBef>
                <a:spcPts val="1200"/>
              </a:spcBef>
              <a:spcAft>
                <a:spcPts val="0"/>
              </a:spcAft>
              <a:buSzPts val="1800"/>
              <a:buChar char="●"/>
            </a:pPr>
            <a:r>
              <a:rPr lang="en" sz="1800"/>
              <a:t>Example: The average cost of a new house increased over a few decades because of inflation. A house that cost $100,000 in 2000, will cost more 30 years later.</a:t>
            </a:r>
            <a:endParaRPr sz="1800"/>
          </a:p>
          <a:p>
            <a:pPr indent="-342900" lvl="0" marL="457200" rtl="0" algn="l">
              <a:spcBef>
                <a:spcPts val="0"/>
              </a:spcBef>
              <a:spcAft>
                <a:spcPts val="0"/>
              </a:spcAft>
              <a:buSzPts val="1800"/>
              <a:buChar char="●"/>
            </a:pPr>
            <a:r>
              <a:rPr lang="en" sz="1800"/>
              <a:t>Financial time series are typically adjusted in dollar values for a certain year.</a:t>
            </a:r>
            <a:endParaRPr sz="1800"/>
          </a:p>
          <a:p>
            <a:pPr indent="-342900" lvl="1" marL="914400" rtl="0" algn="l">
              <a:spcBef>
                <a:spcPts val="0"/>
              </a:spcBef>
              <a:spcAft>
                <a:spcPts val="0"/>
              </a:spcAft>
              <a:buSzPts val="1800"/>
              <a:buChar char="○"/>
            </a:pPr>
            <a:r>
              <a:rPr lang="en" sz="1800"/>
              <a:t>X</a:t>
            </a:r>
            <a:r>
              <a:rPr baseline="-25000" lang="en" sz="1800"/>
              <a:t>t</a:t>
            </a:r>
            <a:r>
              <a:rPr lang="en" sz="1800"/>
              <a:t> = y</a:t>
            </a:r>
            <a:r>
              <a:rPr baseline="-25000" lang="en" sz="1800"/>
              <a:t>t</a:t>
            </a:r>
            <a:r>
              <a:rPr lang="en" sz="1800"/>
              <a:t> / z</a:t>
            </a:r>
            <a:r>
              <a:rPr baseline="-25000" lang="en" sz="1800"/>
              <a:t>t</a:t>
            </a:r>
            <a:r>
              <a:rPr lang="en" sz="1800"/>
              <a:t> * z</a:t>
            </a:r>
            <a:r>
              <a:rPr baseline="-25000" lang="en" sz="1800"/>
              <a:t>2000</a:t>
            </a:r>
            <a:endParaRPr baseline="-25000" sz="1800"/>
          </a:p>
          <a:p>
            <a:pPr indent="-342900" lvl="1" marL="914400" rtl="0" algn="l">
              <a:spcBef>
                <a:spcPts val="0"/>
              </a:spcBef>
              <a:spcAft>
                <a:spcPts val="0"/>
              </a:spcAft>
              <a:buSzPts val="1800"/>
              <a:buChar char="○"/>
            </a:pPr>
            <a:r>
              <a:rPr lang="en" sz="1800"/>
              <a:t>z</a:t>
            </a:r>
            <a:r>
              <a:rPr baseline="-25000" lang="en" sz="1800"/>
              <a:t>t</a:t>
            </a:r>
            <a:r>
              <a:rPr lang="en" sz="1800"/>
              <a:t> denotes price index and y</a:t>
            </a:r>
            <a:r>
              <a:rPr baseline="-25000" lang="en" sz="1800"/>
              <a:t>t</a:t>
            </a:r>
            <a:r>
              <a:rPr lang="en" sz="1800"/>
              <a:t> denotes original house for</a:t>
            </a:r>
            <a:r>
              <a:rPr lang="en" sz="1800"/>
              <a:t> t = year</a:t>
            </a:r>
            <a:endParaRPr sz="1800"/>
          </a:p>
        </p:txBody>
      </p:sp>
      <p:sp>
        <p:nvSpPr>
          <p:cNvPr id="119" name="Google Shape;119;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0" name="Google Shape;120;p17"/>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Mathematical Transformations</a:t>
            </a:r>
            <a:endParaRPr/>
          </a:p>
        </p:txBody>
      </p:sp>
      <p:sp>
        <p:nvSpPr>
          <p:cNvPr id="126" name="Google Shape;126;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data showing </a:t>
            </a:r>
            <a:r>
              <a:rPr lang="en"/>
              <a:t>variation</a:t>
            </a:r>
            <a:r>
              <a:rPr lang="en"/>
              <a:t> that </a:t>
            </a:r>
            <a:r>
              <a:rPr lang="en"/>
              <a:t>increases or decreases with the level of the series, a transformation can be useful.</a:t>
            </a:r>
            <a:endParaRPr/>
          </a:p>
          <a:p>
            <a:pPr indent="-311150" lvl="0" marL="457200" rtl="0" algn="l">
              <a:spcBef>
                <a:spcPts val="1200"/>
              </a:spcBef>
              <a:spcAft>
                <a:spcPts val="0"/>
              </a:spcAft>
              <a:buSzPts val="1300"/>
              <a:buChar char="●"/>
            </a:pPr>
            <a:r>
              <a:rPr lang="en"/>
              <a:t>Denote original </a:t>
            </a:r>
            <a:r>
              <a:rPr lang="en"/>
              <a:t>transformation</a:t>
            </a:r>
            <a:r>
              <a:rPr lang="en"/>
              <a:t> as y</a:t>
            </a:r>
            <a:r>
              <a:rPr baseline="-25000" lang="en"/>
              <a:t>1</a:t>
            </a:r>
            <a:r>
              <a:rPr lang="en"/>
              <a:t>, …, y</a:t>
            </a:r>
            <a:r>
              <a:rPr baseline="-25000" lang="en"/>
              <a:t>t</a:t>
            </a:r>
            <a:r>
              <a:rPr lang="en"/>
              <a:t> and the transformed observation w</a:t>
            </a:r>
            <a:r>
              <a:rPr baseline="-25000" lang="en"/>
              <a:t>1</a:t>
            </a:r>
            <a:r>
              <a:rPr lang="en"/>
              <a:t>, …, w</a:t>
            </a:r>
            <a:r>
              <a:rPr baseline="-25000" lang="en"/>
              <a:t>t</a:t>
            </a:r>
            <a:r>
              <a:rPr lang="en"/>
              <a:t> then w</a:t>
            </a:r>
            <a:r>
              <a:rPr baseline="-25000" lang="en"/>
              <a:t>t</a:t>
            </a:r>
            <a:r>
              <a:rPr lang="en"/>
              <a:t> = log(y</a:t>
            </a:r>
            <a:r>
              <a:rPr baseline="-25000" lang="en"/>
              <a:t>t</a:t>
            </a:r>
            <a:r>
              <a:rPr lang="en"/>
              <a:t>)</a:t>
            </a:r>
            <a:endParaRPr/>
          </a:p>
        </p:txBody>
      </p:sp>
      <p:sp>
        <p:nvSpPr>
          <p:cNvPr id="127" name="Google Shape;127;p1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18"/>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Modified Box-Cox Transformation</a:t>
            </a:r>
            <a:endParaRPr/>
          </a:p>
        </p:txBody>
      </p:sp>
      <p:sp>
        <p:nvSpPr>
          <p:cNvPr id="134" name="Google Shape;134;p1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5" name="Google Shape;135;p19"/>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136" name="Google Shape;136;p19"/>
          <p:cNvPicPr preferRelativeResize="0"/>
          <p:nvPr/>
        </p:nvPicPr>
        <p:blipFill>
          <a:blip r:embed="rId3">
            <a:alphaModFix/>
          </a:blip>
          <a:stretch>
            <a:fillRect/>
          </a:stretch>
        </p:blipFill>
        <p:spPr>
          <a:xfrm>
            <a:off x="772550" y="1853838"/>
            <a:ext cx="3657600" cy="828675"/>
          </a:xfrm>
          <a:prstGeom prst="rect">
            <a:avLst/>
          </a:prstGeom>
          <a:noFill/>
          <a:ln>
            <a:noFill/>
          </a:ln>
        </p:spPr>
      </p:pic>
      <p:pic>
        <p:nvPicPr>
          <p:cNvPr id="137" name="Google Shape;137;p19"/>
          <p:cNvPicPr preferRelativeResize="0"/>
          <p:nvPr/>
        </p:nvPicPr>
        <p:blipFill>
          <a:blip r:embed="rId4">
            <a:alphaModFix/>
          </a:blip>
          <a:stretch>
            <a:fillRect/>
          </a:stretch>
        </p:blipFill>
        <p:spPr>
          <a:xfrm>
            <a:off x="396825" y="2682525"/>
            <a:ext cx="4132224" cy="2210500"/>
          </a:xfrm>
          <a:prstGeom prst="rect">
            <a:avLst/>
          </a:prstGeom>
          <a:noFill/>
          <a:ln>
            <a:noFill/>
          </a:ln>
        </p:spPr>
      </p:pic>
      <p:pic>
        <p:nvPicPr>
          <p:cNvPr id="138" name="Google Shape;138;p19"/>
          <p:cNvPicPr preferRelativeResize="0"/>
          <p:nvPr/>
        </p:nvPicPr>
        <p:blipFill>
          <a:blip r:embed="rId5">
            <a:alphaModFix/>
          </a:blip>
          <a:stretch>
            <a:fillRect/>
          </a:stretch>
        </p:blipFill>
        <p:spPr>
          <a:xfrm>
            <a:off x="4805873" y="2630500"/>
            <a:ext cx="4252702" cy="2305400"/>
          </a:xfrm>
          <a:prstGeom prst="rect">
            <a:avLst/>
          </a:prstGeom>
          <a:noFill/>
          <a:ln>
            <a:noFill/>
          </a:ln>
        </p:spPr>
      </p:pic>
      <p:sp>
        <p:nvSpPr>
          <p:cNvPr id="139" name="Google Shape;139;p19"/>
          <p:cNvSpPr txBox="1"/>
          <p:nvPr/>
        </p:nvSpPr>
        <p:spPr>
          <a:xfrm>
            <a:off x="1531288" y="4847500"/>
            <a:ext cx="1863300" cy="19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accent1"/>
                </a:solidFill>
                <a:latin typeface="Lato"/>
                <a:ea typeface="Lato"/>
                <a:cs typeface="Lato"/>
                <a:sym typeface="Lato"/>
              </a:rPr>
              <a:t>𝞴 = 1</a:t>
            </a:r>
            <a:endParaRPr b="1" sz="1300">
              <a:solidFill>
                <a:schemeClr val="accent1"/>
              </a:solidFill>
              <a:latin typeface="Lato"/>
              <a:ea typeface="Lato"/>
              <a:cs typeface="Lato"/>
              <a:sym typeface="Lato"/>
            </a:endParaRPr>
          </a:p>
        </p:txBody>
      </p:sp>
      <p:sp>
        <p:nvSpPr>
          <p:cNvPr id="140" name="Google Shape;140;p19"/>
          <p:cNvSpPr txBox="1"/>
          <p:nvPr/>
        </p:nvSpPr>
        <p:spPr>
          <a:xfrm>
            <a:off x="6188863" y="4847500"/>
            <a:ext cx="1863300" cy="19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accent1"/>
                </a:solidFill>
                <a:latin typeface="Lato"/>
                <a:ea typeface="Lato"/>
                <a:cs typeface="Lato"/>
                <a:sym typeface="Lato"/>
              </a:rPr>
              <a:t>𝞴 = .1</a:t>
            </a:r>
            <a:endParaRPr b="1" sz="1300">
              <a:solidFill>
                <a:schemeClr val="accen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Time Series Components</a:t>
            </a:r>
            <a:endParaRPr/>
          </a:p>
        </p:txBody>
      </p:sp>
      <p:sp>
        <p:nvSpPr>
          <p:cNvPr id="146" name="Google Shape;146;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Seasonal Component S</a:t>
            </a:r>
            <a:r>
              <a:rPr baseline="-25000" lang="en"/>
              <a:t>t</a:t>
            </a:r>
            <a:endParaRPr baseline="-25000"/>
          </a:p>
          <a:p>
            <a:pPr indent="-311150" lvl="0" marL="457200" rtl="0" algn="l">
              <a:spcBef>
                <a:spcPts val="1200"/>
              </a:spcBef>
              <a:spcAft>
                <a:spcPts val="0"/>
              </a:spcAft>
              <a:buSzPts val="1300"/>
              <a:buChar char="●"/>
            </a:pPr>
            <a:r>
              <a:rPr lang="en"/>
              <a:t>Data following a pattern with fixed frequency</a:t>
            </a:r>
            <a:endParaRPr/>
          </a:p>
          <a:p>
            <a:pPr indent="0" lvl="0" marL="0" rtl="0" algn="l">
              <a:spcBef>
                <a:spcPts val="1200"/>
              </a:spcBef>
              <a:spcAft>
                <a:spcPts val="0"/>
              </a:spcAft>
              <a:buNone/>
            </a:pPr>
            <a:r>
              <a:rPr lang="en"/>
              <a:t>Trend-cycle component T</a:t>
            </a:r>
            <a:r>
              <a:rPr baseline="-25000" lang="en"/>
              <a:t>t</a:t>
            </a:r>
            <a:endParaRPr baseline="-25000"/>
          </a:p>
          <a:p>
            <a:pPr indent="-311150" lvl="0" marL="457200" rtl="0" algn="l">
              <a:spcBef>
                <a:spcPts val="1200"/>
              </a:spcBef>
              <a:spcAft>
                <a:spcPts val="0"/>
              </a:spcAft>
              <a:buSzPts val="1300"/>
              <a:buChar char="●"/>
            </a:pPr>
            <a:r>
              <a:rPr lang="en"/>
              <a:t>Data following a increasing or decreasing pattern</a:t>
            </a:r>
            <a:endParaRPr/>
          </a:p>
          <a:p>
            <a:pPr indent="0" lvl="0" marL="0" rtl="0" algn="l">
              <a:spcBef>
                <a:spcPts val="1200"/>
              </a:spcBef>
              <a:spcAft>
                <a:spcPts val="0"/>
              </a:spcAft>
              <a:buNone/>
            </a:pPr>
            <a:r>
              <a:rPr lang="en"/>
              <a:t>Remainder Component R</a:t>
            </a:r>
            <a:r>
              <a:rPr baseline="-25000" lang="en"/>
              <a:t>t</a:t>
            </a:r>
            <a:endParaRPr baseline="-25000"/>
          </a:p>
          <a:p>
            <a:pPr indent="-311150" lvl="0" marL="457200" rtl="0" algn="l">
              <a:spcBef>
                <a:spcPts val="1200"/>
              </a:spcBef>
              <a:spcAft>
                <a:spcPts val="0"/>
              </a:spcAft>
              <a:buSzPts val="1300"/>
              <a:buChar char="●"/>
            </a:pPr>
            <a:r>
              <a:rPr lang="en"/>
              <a:t>Variations impacting individual variables</a:t>
            </a:r>
            <a:endParaRPr/>
          </a:p>
        </p:txBody>
      </p:sp>
      <p:sp>
        <p:nvSpPr>
          <p:cNvPr id="147" name="Google Shape;147;p2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8" name="Google Shape;148;p20"/>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1"/>
          <p:cNvSpPr txBox="1"/>
          <p:nvPr>
            <p:ph type="title"/>
          </p:nvPr>
        </p:nvSpPr>
        <p:spPr>
          <a:xfrm>
            <a:off x="727650" y="5584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400"/>
              <a:t>Additive Decomposition</a:t>
            </a:r>
            <a:endParaRPr sz="2400"/>
          </a:p>
        </p:txBody>
      </p:sp>
      <p:pic>
        <p:nvPicPr>
          <p:cNvPr id="154" name="Google Shape;154;p21"/>
          <p:cNvPicPr preferRelativeResize="0"/>
          <p:nvPr/>
        </p:nvPicPr>
        <p:blipFill>
          <a:blip r:embed="rId3">
            <a:alphaModFix/>
          </a:blip>
          <a:stretch>
            <a:fillRect/>
          </a:stretch>
        </p:blipFill>
        <p:spPr>
          <a:xfrm>
            <a:off x="1868675" y="1813400"/>
            <a:ext cx="5406650" cy="3102550"/>
          </a:xfrm>
          <a:prstGeom prst="rect">
            <a:avLst/>
          </a:prstGeom>
          <a:noFill/>
          <a:ln>
            <a:noFill/>
          </a:ln>
        </p:spPr>
      </p:pic>
      <p:sp>
        <p:nvSpPr>
          <p:cNvPr id="155" name="Google Shape;155;p21"/>
          <p:cNvSpPr txBox="1"/>
          <p:nvPr/>
        </p:nvSpPr>
        <p:spPr>
          <a:xfrm>
            <a:off x="727650" y="12593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accent1"/>
                </a:solidFill>
                <a:latin typeface="Lato"/>
                <a:ea typeface="Lato"/>
                <a:cs typeface="Lato"/>
                <a:sym typeface="Lato"/>
              </a:rPr>
              <a:t>Y</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S</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T</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R</a:t>
            </a:r>
            <a:r>
              <a:rPr b="1" baseline="-25000" lang="en" sz="2400">
                <a:solidFill>
                  <a:schemeClr val="accent1"/>
                </a:solidFill>
                <a:latin typeface="Lato"/>
                <a:ea typeface="Lato"/>
                <a:cs typeface="Lato"/>
                <a:sym typeface="Lato"/>
              </a:rPr>
              <a:t>t</a:t>
            </a:r>
            <a:endParaRPr/>
          </a:p>
        </p:txBody>
      </p:sp>
      <p:sp>
        <p:nvSpPr>
          <p:cNvPr id="156" name="Google Shape;156;p2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1"/>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2"/>
          <p:cNvSpPr txBox="1"/>
          <p:nvPr>
            <p:ph type="title"/>
          </p:nvPr>
        </p:nvSpPr>
        <p:spPr>
          <a:xfrm>
            <a:off x="727650" y="6268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Multiplicative Decomposition</a:t>
            </a:r>
            <a:endParaRPr/>
          </a:p>
        </p:txBody>
      </p:sp>
      <p:sp>
        <p:nvSpPr>
          <p:cNvPr id="163" name="Google Shape;163;p22"/>
          <p:cNvSpPr txBox="1"/>
          <p:nvPr/>
        </p:nvSpPr>
        <p:spPr>
          <a:xfrm>
            <a:off x="727650" y="1259300"/>
            <a:ext cx="5092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chemeClr val="accent1"/>
                </a:solidFill>
                <a:latin typeface="Lato"/>
                <a:ea typeface="Lato"/>
                <a:cs typeface="Lato"/>
                <a:sym typeface="Lato"/>
              </a:rPr>
              <a:t>S</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T</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R</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logS</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logT</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 logR</a:t>
            </a:r>
            <a:r>
              <a:rPr b="1" baseline="-25000" lang="en" sz="2400">
                <a:solidFill>
                  <a:schemeClr val="accent1"/>
                </a:solidFill>
                <a:latin typeface="Lato"/>
                <a:ea typeface="Lato"/>
                <a:cs typeface="Lato"/>
                <a:sym typeface="Lato"/>
              </a:rPr>
              <a:t>t</a:t>
            </a:r>
            <a:r>
              <a:rPr b="1" lang="en" sz="2400">
                <a:solidFill>
                  <a:schemeClr val="accent1"/>
                </a:solidFill>
                <a:latin typeface="Lato"/>
                <a:ea typeface="Lato"/>
                <a:cs typeface="Lato"/>
                <a:sym typeface="Lato"/>
              </a:rPr>
              <a:t> </a:t>
            </a:r>
            <a:endParaRPr baseline="-25000"/>
          </a:p>
        </p:txBody>
      </p:sp>
      <p:pic>
        <p:nvPicPr>
          <p:cNvPr id="164" name="Google Shape;164;p22"/>
          <p:cNvPicPr preferRelativeResize="0"/>
          <p:nvPr/>
        </p:nvPicPr>
        <p:blipFill>
          <a:blip r:embed="rId3">
            <a:alphaModFix/>
          </a:blip>
          <a:stretch>
            <a:fillRect/>
          </a:stretch>
        </p:blipFill>
        <p:spPr>
          <a:xfrm>
            <a:off x="1181725" y="1910675"/>
            <a:ext cx="6780551" cy="3025300"/>
          </a:xfrm>
          <a:prstGeom prst="rect">
            <a:avLst/>
          </a:prstGeom>
          <a:noFill/>
          <a:ln>
            <a:noFill/>
          </a:ln>
        </p:spPr>
      </p:pic>
      <p:sp>
        <p:nvSpPr>
          <p:cNvPr id="165" name="Google Shape;165;p2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2"/>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nvSpPr>
        <p:spPr>
          <a:xfrm>
            <a:off x="324350" y="1348375"/>
            <a:ext cx="8604000" cy="7365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accent1"/>
              </a:buClr>
              <a:buSzPts val="1700"/>
              <a:buFont typeface="Lato"/>
              <a:buChar char="●"/>
            </a:pPr>
            <a:r>
              <a:rPr b="1" lang="en" sz="1500"/>
              <a:t>Definition:</a:t>
            </a:r>
            <a:r>
              <a:rPr lang="en" sz="1500"/>
              <a:t> An </a:t>
            </a:r>
            <a:r>
              <a:rPr i="1" lang="en" sz="1500"/>
              <a:t>m</a:t>
            </a:r>
            <a:r>
              <a:rPr lang="en" sz="1500"/>
              <a:t>-MA is the average of a time series within </a:t>
            </a:r>
            <a:r>
              <a:rPr i="1" lang="en" sz="1500"/>
              <a:t>k</a:t>
            </a:r>
            <a:r>
              <a:rPr lang="en" sz="1500"/>
              <a:t> periods of a center point.</a:t>
            </a:r>
            <a:endParaRPr sz="1500"/>
          </a:p>
          <a:p>
            <a:pPr indent="-323850" lvl="0" marL="457200" rtl="0" algn="l">
              <a:lnSpc>
                <a:spcPct val="115000"/>
              </a:lnSpc>
              <a:spcBef>
                <a:spcPts val="0"/>
              </a:spcBef>
              <a:spcAft>
                <a:spcPts val="0"/>
              </a:spcAft>
              <a:buSzPts val="1500"/>
              <a:buChar char="●"/>
            </a:pPr>
            <a:r>
              <a:rPr b="1" lang="en" sz="1500"/>
              <a:t>The Formula:</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172" name="Google Shape;172;p23"/>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73" name="Google Shape;173;p23"/>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2800">
                <a:solidFill>
                  <a:schemeClr val="lt1"/>
                </a:solidFill>
                <a:latin typeface="Arial"/>
                <a:ea typeface="Arial"/>
                <a:cs typeface="Arial"/>
                <a:sym typeface="Arial"/>
              </a:rPr>
              <a:t>Moving averages: smoothing a trend-cycle</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p>
        </p:txBody>
      </p:sp>
      <p:pic>
        <p:nvPicPr>
          <p:cNvPr id="174" name="Google Shape;174;p23"/>
          <p:cNvPicPr preferRelativeResize="0"/>
          <p:nvPr/>
        </p:nvPicPr>
        <p:blipFill>
          <a:blip r:embed="rId3">
            <a:alphaModFix/>
          </a:blip>
          <a:stretch>
            <a:fillRect/>
          </a:stretch>
        </p:blipFill>
        <p:spPr>
          <a:xfrm>
            <a:off x="2743287" y="1943400"/>
            <a:ext cx="3105275" cy="1042500"/>
          </a:xfrm>
          <a:prstGeom prst="rect">
            <a:avLst/>
          </a:prstGeom>
          <a:noFill/>
          <a:ln>
            <a:noFill/>
          </a:ln>
        </p:spPr>
      </p:pic>
      <p:sp>
        <p:nvSpPr>
          <p:cNvPr id="175" name="Google Shape;175;p23"/>
          <p:cNvSpPr txBox="1"/>
          <p:nvPr/>
        </p:nvSpPr>
        <p:spPr>
          <a:xfrm>
            <a:off x="270000" y="2985900"/>
            <a:ext cx="8604000" cy="1676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b="1" lang="en" sz="1500"/>
              <a:t>Purpose:</a:t>
            </a:r>
            <a:r>
              <a:rPr lang="en" sz="1500"/>
              <a:t> To "smooth" the data. By averaging nearby observations, we cancel out random fluctuations (noise) to see the underlying trend.</a:t>
            </a:r>
            <a:endParaRPr sz="1500"/>
          </a:p>
          <a:p>
            <a:pPr indent="-349250" lvl="0" marL="457200" rtl="0" algn="l">
              <a:lnSpc>
                <a:spcPct val="115000"/>
              </a:lnSpc>
              <a:spcBef>
                <a:spcPts val="0"/>
              </a:spcBef>
              <a:spcAft>
                <a:spcPts val="0"/>
              </a:spcAft>
              <a:buSzPts val="1900"/>
              <a:buChar char="●"/>
            </a:pPr>
            <a:r>
              <a:rPr b="1" lang="en" sz="1500"/>
              <a:t>The "Trade-off":</a:t>
            </a:r>
            <a:r>
              <a:rPr lang="en" sz="1500"/>
              <a:t> Higher order (</a:t>
            </a:r>
            <a:r>
              <a:rPr i="1" lang="en" sz="1500"/>
              <a:t>m</a:t>
            </a:r>
            <a:r>
              <a:rPr lang="en" sz="1500"/>
              <a:t>) </a:t>
            </a:r>
            <a:r>
              <a:rPr lang="en" sz="1500"/>
              <a:t>creates</a:t>
            </a:r>
            <a:r>
              <a:rPr lang="en" sz="1500"/>
              <a:t> smoother trend, but causes loss of more data at the beginning and end of the series.</a:t>
            </a:r>
            <a:endParaRPr sz="1900"/>
          </a:p>
          <a:p>
            <a:pPr indent="0" lvl="0" marL="457200" rtl="0" algn="l">
              <a:lnSpc>
                <a:spcPct val="115000"/>
              </a:lnSpc>
              <a:spcBef>
                <a:spcPts val="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176" name="Google Shape;176;p2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4"/>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82" name="Google Shape;182;p24"/>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2800">
                <a:solidFill>
                  <a:schemeClr val="lt1"/>
                </a:solidFill>
                <a:latin typeface="Arial"/>
                <a:ea typeface="Arial"/>
                <a:cs typeface="Arial"/>
                <a:sym typeface="Arial"/>
              </a:rPr>
              <a:t>Moving averages: smoothing a trend-cycle</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p>
        </p:txBody>
      </p:sp>
      <p:sp>
        <p:nvSpPr>
          <p:cNvPr id="183" name="Google Shape;183;p2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84" name="Google Shape;184;p24"/>
          <p:cNvPicPr preferRelativeResize="0"/>
          <p:nvPr/>
        </p:nvPicPr>
        <p:blipFill>
          <a:blip r:embed="rId3">
            <a:alphaModFix/>
          </a:blip>
          <a:stretch>
            <a:fillRect/>
          </a:stretch>
        </p:blipFill>
        <p:spPr>
          <a:xfrm>
            <a:off x="1091138" y="896325"/>
            <a:ext cx="6961724" cy="4302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nvSpPr>
        <p:spPr>
          <a:xfrm>
            <a:off x="270000" y="991102"/>
            <a:ext cx="8604000" cy="196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t>Pros</a:t>
            </a:r>
            <a:endParaRPr b="1" sz="1500"/>
          </a:p>
          <a:p>
            <a:pPr indent="-311150" lvl="0" marL="457200" rtl="0" algn="l">
              <a:lnSpc>
                <a:spcPct val="115000"/>
              </a:lnSpc>
              <a:spcBef>
                <a:spcPts val="1200"/>
              </a:spcBef>
              <a:spcAft>
                <a:spcPts val="0"/>
              </a:spcAft>
              <a:buSzPts val="1300"/>
              <a:buChar char="●"/>
            </a:pPr>
            <a:r>
              <a:rPr b="1" lang="en" sz="1300"/>
              <a:t>Extreme Simplicity:</a:t>
            </a:r>
            <a:r>
              <a:rPr lang="en" sz="1300"/>
              <a:t> Very easy to calculate </a:t>
            </a:r>
            <a:endParaRPr sz="1300"/>
          </a:p>
          <a:p>
            <a:pPr indent="-311150" lvl="0" marL="457200" rtl="0" algn="l">
              <a:lnSpc>
                <a:spcPct val="115000"/>
              </a:lnSpc>
              <a:spcBef>
                <a:spcPts val="0"/>
              </a:spcBef>
              <a:spcAft>
                <a:spcPts val="0"/>
              </a:spcAft>
              <a:buSzPts val="1300"/>
              <a:buChar char="●"/>
            </a:pPr>
            <a:r>
              <a:rPr b="1" lang="en" sz="1300"/>
              <a:t>Uniform Smoothing:</a:t>
            </a:r>
            <a:r>
              <a:rPr lang="en" sz="1300"/>
              <a:t> It provides a consistent "lag" that is easy to understand—a 10-day MA is exactly the average of the last 10 days.</a:t>
            </a:r>
            <a:endParaRPr sz="1300"/>
          </a:p>
          <a:p>
            <a:pPr indent="-311150" lvl="0" marL="457200" rtl="0" algn="l">
              <a:lnSpc>
                <a:spcPct val="115000"/>
              </a:lnSpc>
              <a:spcBef>
                <a:spcPts val="0"/>
              </a:spcBef>
              <a:spcAft>
                <a:spcPts val="0"/>
              </a:spcAft>
              <a:buSzPts val="1300"/>
              <a:buChar char="●"/>
            </a:pPr>
            <a:r>
              <a:rPr b="1" lang="en" sz="1300"/>
              <a:t>Effective for High Noise:</a:t>
            </a:r>
            <a:r>
              <a:rPr lang="en" sz="1300"/>
              <a:t> If data is extremely wiggly with no clear direction, an SMA is great at flattening that noise completely.</a:t>
            </a:r>
            <a:endParaRPr sz="1300"/>
          </a:p>
          <a:p>
            <a:pPr indent="0" lvl="0" marL="457200" rtl="0" algn="l">
              <a:lnSpc>
                <a:spcPct val="115000"/>
              </a:lnSpc>
              <a:spcBef>
                <a:spcPts val="120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190" name="Google Shape;190;p25"/>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1" name="Google Shape;191;p25"/>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sz="2800">
                <a:solidFill>
                  <a:schemeClr val="lt1"/>
                </a:solidFill>
                <a:latin typeface="Arial"/>
                <a:ea typeface="Arial"/>
                <a:cs typeface="Arial"/>
                <a:sym typeface="Arial"/>
              </a:rPr>
              <a:t>Moving averages: smoothing a trend-cycle</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p>
        </p:txBody>
      </p:sp>
      <p:sp>
        <p:nvSpPr>
          <p:cNvPr id="192" name="Google Shape;192;p25"/>
          <p:cNvSpPr txBox="1"/>
          <p:nvPr/>
        </p:nvSpPr>
        <p:spPr>
          <a:xfrm>
            <a:off x="417300" y="3152625"/>
            <a:ext cx="8604000" cy="166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t>Cons</a:t>
            </a:r>
            <a:endParaRPr b="1" sz="1500"/>
          </a:p>
          <a:p>
            <a:pPr indent="-311150" lvl="0" marL="457200" rtl="0" algn="l">
              <a:lnSpc>
                <a:spcPct val="115000"/>
              </a:lnSpc>
              <a:spcBef>
                <a:spcPts val="400"/>
              </a:spcBef>
              <a:spcAft>
                <a:spcPts val="0"/>
              </a:spcAft>
              <a:buSzPts val="1300"/>
              <a:buChar char="●"/>
            </a:pPr>
            <a:r>
              <a:rPr b="1" lang="en" sz="1300"/>
              <a:t>The Outliers Effect:</a:t>
            </a:r>
            <a:r>
              <a:rPr lang="en" sz="1300"/>
              <a:t> Because every point has equal weight, an outlier entering the window shifts the average, and then shifts it again when it leaves the window </a:t>
            </a:r>
            <a:r>
              <a:rPr i="1" lang="en" sz="1300"/>
              <a:t>m</a:t>
            </a:r>
            <a:r>
              <a:rPr lang="en" sz="1300"/>
              <a:t> days later, creating a "ghost" jump.</a:t>
            </a:r>
            <a:endParaRPr sz="1300"/>
          </a:p>
          <a:p>
            <a:pPr indent="-311150" lvl="0" marL="457200" rtl="0" algn="l">
              <a:lnSpc>
                <a:spcPct val="115000"/>
              </a:lnSpc>
              <a:spcBef>
                <a:spcPts val="0"/>
              </a:spcBef>
              <a:spcAft>
                <a:spcPts val="0"/>
              </a:spcAft>
              <a:buSzPts val="1300"/>
              <a:buChar char="●"/>
            </a:pPr>
            <a:r>
              <a:rPr b="1" lang="en" sz="1300"/>
              <a:t>High Lag:</a:t>
            </a:r>
            <a:r>
              <a:rPr lang="en" sz="1300"/>
              <a:t> SMAs are slow to respond to rapid changes in trend because the old data (at the edge of the window) carries as much weight as today’s data.</a:t>
            </a:r>
            <a:endParaRPr sz="1300"/>
          </a:p>
          <a:p>
            <a:pPr indent="0" lvl="0" marL="0" rtl="0" algn="l">
              <a:lnSpc>
                <a:spcPct val="115000"/>
              </a:lnSpc>
              <a:spcBef>
                <a:spcPts val="1200"/>
              </a:spcBef>
              <a:spcAft>
                <a:spcPts val="0"/>
              </a:spcAft>
              <a:buNone/>
            </a:pPr>
            <a:r>
              <a:t/>
            </a:r>
            <a:endParaRPr sz="1900"/>
          </a:p>
          <a:p>
            <a:pPr indent="0" lvl="0" marL="457200" rtl="0" algn="l">
              <a:lnSpc>
                <a:spcPct val="115000"/>
              </a:lnSpc>
              <a:spcBef>
                <a:spcPts val="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193" name="Google Shape;193;p2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6"/>
          <p:cNvSpPr txBox="1"/>
          <p:nvPr/>
        </p:nvSpPr>
        <p:spPr>
          <a:xfrm>
            <a:off x="324350" y="1012950"/>
            <a:ext cx="8604000" cy="22134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SzPts val="1500"/>
              <a:buChar char="●"/>
            </a:pPr>
            <a:r>
              <a:rPr b="1" lang="en" sz="1500"/>
              <a:t>The Symmetry Problem:</a:t>
            </a:r>
            <a:r>
              <a:rPr lang="en" sz="1500"/>
              <a:t> Even-order averages (like a 4-MA) don't have a natural center; they fall </a:t>
            </a:r>
            <a:r>
              <a:rPr i="1" lang="en" sz="1500"/>
              <a:t>between</a:t>
            </a:r>
            <a:r>
              <a:rPr lang="en" sz="1500"/>
              <a:t> periods.</a:t>
            </a:r>
            <a:endParaRPr sz="1500"/>
          </a:p>
          <a:p>
            <a:pPr indent="-323850" lvl="0" marL="457200" rtl="0" algn="l">
              <a:lnSpc>
                <a:spcPct val="115000"/>
              </a:lnSpc>
              <a:spcBef>
                <a:spcPts val="0"/>
              </a:spcBef>
              <a:spcAft>
                <a:spcPts val="0"/>
              </a:spcAft>
              <a:buSzPts val="1500"/>
              <a:buChar char="●"/>
            </a:pPr>
            <a:r>
              <a:rPr b="1" lang="en" sz="1500"/>
              <a:t>The Solution:</a:t>
            </a:r>
            <a:r>
              <a:rPr lang="en" sz="1500"/>
              <a:t> Apply a second moving average (usually order 2) to "re-center" the data.</a:t>
            </a:r>
            <a:endParaRPr sz="1500"/>
          </a:p>
          <a:p>
            <a:pPr indent="-323850" lvl="0" marL="457200" rtl="0" algn="l">
              <a:lnSpc>
                <a:spcPct val="115000"/>
              </a:lnSpc>
              <a:spcBef>
                <a:spcPts val="0"/>
              </a:spcBef>
              <a:spcAft>
                <a:spcPts val="0"/>
              </a:spcAft>
              <a:buSzPts val="1500"/>
              <a:buChar char="●"/>
            </a:pPr>
            <a:r>
              <a:rPr b="1" lang="en" sz="1500"/>
              <a:t>The Weighted Result:</a:t>
            </a:r>
            <a:r>
              <a:rPr lang="en" sz="1500"/>
              <a:t> A </a:t>
            </a:r>
            <a:r>
              <a:rPr b="1" lang="en" sz="1500">
                <a:solidFill>
                  <a:schemeClr val="dk2"/>
                </a:solidFill>
              </a:rPr>
              <a:t>2</a:t>
            </a:r>
            <a:r>
              <a:rPr b="1" lang="en" sz="1500">
                <a:solidFill>
                  <a:schemeClr val="dk2"/>
                </a:solidFill>
              </a:rPr>
              <a:t> × </a:t>
            </a:r>
            <a:r>
              <a:rPr b="1" i="1" lang="en" sz="1500">
                <a:solidFill>
                  <a:schemeClr val="dk2"/>
                </a:solidFill>
              </a:rPr>
              <a:t>5</a:t>
            </a:r>
            <a:r>
              <a:rPr b="1" lang="en" sz="1500">
                <a:solidFill>
                  <a:schemeClr val="dk2"/>
                </a:solidFill>
              </a:rPr>
              <a:t>-MA</a:t>
            </a:r>
            <a:r>
              <a:rPr lang="en" sz="1500"/>
              <a:t> becomes a weighted 5-point average.</a:t>
            </a:r>
            <a:endParaRPr sz="1500"/>
          </a:p>
          <a:p>
            <a:pPr indent="-323850" lvl="0" marL="457200" rtl="0" algn="l">
              <a:lnSpc>
                <a:spcPct val="115000"/>
              </a:lnSpc>
              <a:spcBef>
                <a:spcPts val="0"/>
              </a:spcBef>
              <a:spcAft>
                <a:spcPts val="0"/>
              </a:spcAft>
              <a:buSzPts val="1500"/>
              <a:buChar char="●"/>
            </a:pPr>
            <a:r>
              <a:rPr b="1" lang="en" sz="1500"/>
              <a:t>The weights sum</a:t>
            </a:r>
            <a:r>
              <a:rPr lang="en" sz="1500"/>
              <a:t> must equal to 1.</a:t>
            </a:r>
            <a:endParaRPr sz="1500"/>
          </a:p>
          <a:p>
            <a:pPr indent="-323850" lvl="0" marL="457200" rtl="0" algn="l">
              <a:lnSpc>
                <a:spcPct val="115000"/>
              </a:lnSpc>
              <a:spcBef>
                <a:spcPts val="0"/>
              </a:spcBef>
              <a:spcAft>
                <a:spcPts val="0"/>
              </a:spcAft>
              <a:buSzPts val="1500"/>
              <a:buChar char="●"/>
            </a:pPr>
            <a:r>
              <a:rPr b="1" lang="en" sz="1500"/>
              <a:t>Why it Works:</a:t>
            </a:r>
            <a:r>
              <a:rPr lang="en" sz="1500"/>
              <a:t> In quarterly data, the first and last terms represent the same quarter in different years. Giving them "half-weight" ensures no single quarter overpowers the average.</a:t>
            </a:r>
            <a:endParaRPr sz="1500"/>
          </a:p>
          <a:p>
            <a:pPr indent="0" lvl="0" marL="457200" rtl="0" algn="l">
              <a:lnSpc>
                <a:spcPct val="115000"/>
              </a:lnSpc>
              <a:spcBef>
                <a:spcPts val="120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199" name="Google Shape;199;p26"/>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00" name="Google Shape;200;p26"/>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Centered Moving Averages (2 × </a:t>
            </a:r>
            <a:r>
              <a:rPr i="1" lang="en" sz="2911">
                <a:solidFill>
                  <a:schemeClr val="lt1"/>
                </a:solidFill>
                <a:latin typeface="Arial"/>
                <a:ea typeface="Arial"/>
                <a:cs typeface="Arial"/>
                <a:sym typeface="Arial"/>
              </a:rPr>
              <a:t>m</a:t>
            </a:r>
            <a:r>
              <a:rPr lang="en">
                <a:solidFill>
                  <a:schemeClr val="lt1"/>
                </a:solidFill>
                <a:latin typeface="Arial"/>
                <a:ea typeface="Arial"/>
                <a:cs typeface="Arial"/>
                <a:sym typeface="Arial"/>
              </a:rPr>
              <a:t>-MA)</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p>
        </p:txBody>
      </p:sp>
      <p:pic>
        <p:nvPicPr>
          <p:cNvPr id="201" name="Google Shape;201;p26"/>
          <p:cNvPicPr preferRelativeResize="0"/>
          <p:nvPr/>
        </p:nvPicPr>
        <p:blipFill>
          <a:blip r:embed="rId3">
            <a:alphaModFix/>
          </a:blip>
          <a:stretch>
            <a:fillRect/>
          </a:stretch>
        </p:blipFill>
        <p:spPr>
          <a:xfrm>
            <a:off x="1492563" y="3010550"/>
            <a:ext cx="6158875" cy="1197575"/>
          </a:xfrm>
          <a:prstGeom prst="rect">
            <a:avLst/>
          </a:prstGeom>
          <a:noFill/>
          <a:ln>
            <a:noFill/>
          </a:ln>
        </p:spPr>
      </p:pic>
      <p:pic>
        <p:nvPicPr>
          <p:cNvPr id="202" name="Google Shape;202;p26"/>
          <p:cNvPicPr preferRelativeResize="0"/>
          <p:nvPr/>
        </p:nvPicPr>
        <p:blipFill>
          <a:blip r:embed="rId4">
            <a:alphaModFix/>
          </a:blip>
          <a:stretch>
            <a:fillRect/>
          </a:stretch>
        </p:blipFill>
        <p:spPr>
          <a:xfrm>
            <a:off x="1481150" y="4036425"/>
            <a:ext cx="6290402" cy="1048400"/>
          </a:xfrm>
          <a:prstGeom prst="rect">
            <a:avLst/>
          </a:prstGeom>
          <a:noFill/>
          <a:ln>
            <a:noFill/>
          </a:ln>
        </p:spPr>
      </p:pic>
      <p:sp>
        <p:nvSpPr>
          <p:cNvPr id="203" name="Google Shape;203;p2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7"/>
          <p:cNvSpPr txBox="1"/>
          <p:nvPr/>
        </p:nvSpPr>
        <p:spPr>
          <a:xfrm>
            <a:off x="270000" y="991102"/>
            <a:ext cx="8604000" cy="196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600"/>
              <a:t>Pros</a:t>
            </a:r>
            <a:endParaRPr b="1" sz="1600"/>
          </a:p>
          <a:p>
            <a:pPr indent="-317500" lvl="0" marL="457200" rtl="0" algn="l">
              <a:lnSpc>
                <a:spcPct val="115000"/>
              </a:lnSpc>
              <a:spcBef>
                <a:spcPts val="400"/>
              </a:spcBef>
              <a:spcAft>
                <a:spcPts val="0"/>
              </a:spcAft>
              <a:buSzPts val="1400"/>
              <a:buChar char="●"/>
            </a:pPr>
            <a:r>
              <a:rPr b="1" lang="en"/>
              <a:t>Reduced Lag:</a:t>
            </a:r>
            <a:r>
              <a:rPr lang="en"/>
              <a:t> By placing more weight on the most recent (or central) observations, the trend line tracks the actual data more closely.</a:t>
            </a:r>
            <a:endParaRPr/>
          </a:p>
          <a:p>
            <a:pPr indent="-317500" lvl="0" marL="457200" rtl="0" algn="l">
              <a:lnSpc>
                <a:spcPct val="115000"/>
              </a:lnSpc>
              <a:spcBef>
                <a:spcPts val="0"/>
              </a:spcBef>
              <a:spcAft>
                <a:spcPts val="0"/>
              </a:spcAft>
              <a:buSzPts val="1400"/>
              <a:buChar char="●"/>
            </a:pPr>
            <a:r>
              <a:rPr b="1" lang="en"/>
              <a:t>Superior Smoothing:</a:t>
            </a:r>
            <a:r>
              <a:rPr lang="en"/>
              <a:t> WMAs result in much smoother curves that don't "wiggle" as much as simple ones when data enters the window.</a:t>
            </a:r>
            <a:endParaRPr/>
          </a:p>
          <a:p>
            <a:pPr indent="-317500" lvl="0" marL="457200" rtl="0" algn="l">
              <a:lnSpc>
                <a:spcPct val="115000"/>
              </a:lnSpc>
              <a:spcBef>
                <a:spcPts val="0"/>
              </a:spcBef>
              <a:spcAft>
                <a:spcPts val="0"/>
              </a:spcAft>
              <a:buSzPts val="1400"/>
              <a:buChar char="●"/>
            </a:pPr>
            <a:r>
              <a:rPr b="1" lang="en"/>
              <a:t>Mathematical Neutralization:</a:t>
            </a:r>
            <a:r>
              <a:rPr lang="en"/>
              <a:t> In </a:t>
            </a:r>
            <a:r>
              <a:rPr lang="en" sz="1300">
                <a:solidFill>
                  <a:schemeClr val="dk2"/>
                </a:solidFill>
              </a:rPr>
              <a:t>2 × </a:t>
            </a:r>
            <a:r>
              <a:rPr i="1" lang="en" sz="1411">
                <a:solidFill>
                  <a:schemeClr val="dk2"/>
                </a:solidFill>
              </a:rPr>
              <a:t>m</a:t>
            </a:r>
            <a:r>
              <a:rPr lang="en" sz="1300">
                <a:solidFill>
                  <a:schemeClr val="dk2"/>
                </a:solidFill>
              </a:rPr>
              <a:t>-MA</a:t>
            </a:r>
            <a:r>
              <a:rPr lang="en"/>
              <a:t>, weighting is the only way to perfectly balance quarterly or monthly seasonality so that no single period overpowers the trend.</a:t>
            </a:r>
            <a:endParaRPr/>
          </a:p>
          <a:p>
            <a:pPr indent="-323850" lvl="0" marL="457200" rtl="0" algn="l">
              <a:lnSpc>
                <a:spcPct val="115000"/>
              </a:lnSpc>
              <a:spcBef>
                <a:spcPts val="0"/>
              </a:spcBef>
              <a:spcAft>
                <a:spcPts val="0"/>
              </a:spcAft>
              <a:buSzPts val="1500"/>
              <a:buChar char="●"/>
            </a:pPr>
            <a:r>
              <a:t/>
            </a:r>
            <a:endParaRPr b="1" sz="1500"/>
          </a:p>
          <a:p>
            <a:pPr indent="0" lvl="0" marL="457200" rtl="0" algn="l">
              <a:lnSpc>
                <a:spcPct val="115000"/>
              </a:lnSpc>
              <a:spcBef>
                <a:spcPts val="120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209" name="Google Shape;209;p27"/>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0" name="Google Shape;210;p27"/>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Centered Moving Averages (2 × </a:t>
            </a:r>
            <a:r>
              <a:rPr i="1" lang="en" sz="2911">
                <a:solidFill>
                  <a:schemeClr val="lt1"/>
                </a:solidFill>
                <a:latin typeface="Arial"/>
                <a:ea typeface="Arial"/>
                <a:cs typeface="Arial"/>
                <a:sym typeface="Arial"/>
              </a:rPr>
              <a:t>m</a:t>
            </a:r>
            <a:r>
              <a:rPr lang="en">
                <a:solidFill>
                  <a:schemeClr val="lt1"/>
                </a:solidFill>
                <a:latin typeface="Arial"/>
                <a:ea typeface="Arial"/>
                <a:cs typeface="Arial"/>
                <a:sym typeface="Arial"/>
              </a:rPr>
              <a:t>-MA)</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p>
        </p:txBody>
      </p:sp>
      <p:sp>
        <p:nvSpPr>
          <p:cNvPr id="211" name="Google Shape;211;p27"/>
          <p:cNvSpPr txBox="1"/>
          <p:nvPr/>
        </p:nvSpPr>
        <p:spPr>
          <a:xfrm>
            <a:off x="270000" y="3115800"/>
            <a:ext cx="8604000" cy="182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sz="1500"/>
              <a:t>Cons</a:t>
            </a:r>
            <a:endParaRPr b="1" sz="1500"/>
          </a:p>
          <a:p>
            <a:pPr indent="-311150" lvl="0" marL="457200" rtl="0" algn="l">
              <a:lnSpc>
                <a:spcPct val="115000"/>
              </a:lnSpc>
              <a:spcBef>
                <a:spcPts val="1200"/>
              </a:spcBef>
              <a:spcAft>
                <a:spcPts val="0"/>
              </a:spcAft>
              <a:buSzPts val="1300"/>
              <a:buChar char="●"/>
            </a:pPr>
            <a:r>
              <a:rPr b="1" lang="en" sz="1300"/>
              <a:t>Complexity:</a:t>
            </a:r>
            <a:r>
              <a:rPr lang="en" sz="1300"/>
              <a:t> Harder to explain to a non-technical audience (e.g., "Why is this quarter worth twice as much as that one?").</a:t>
            </a:r>
            <a:endParaRPr sz="1300"/>
          </a:p>
          <a:p>
            <a:pPr indent="-311150" lvl="0" marL="457200" rtl="0" algn="l">
              <a:lnSpc>
                <a:spcPct val="115000"/>
              </a:lnSpc>
              <a:spcBef>
                <a:spcPts val="0"/>
              </a:spcBef>
              <a:spcAft>
                <a:spcPts val="0"/>
              </a:spcAft>
              <a:buSzPts val="1300"/>
              <a:buChar char="●"/>
            </a:pPr>
            <a:r>
              <a:rPr b="1" lang="en" sz="1300"/>
              <a:t>Weight Selection:</a:t>
            </a:r>
            <a:r>
              <a:rPr lang="en" sz="1300"/>
              <a:t> Choosing the "correct" weights can be arbitrary unless you follow a specific standard (like classical decomposition).</a:t>
            </a:r>
            <a:endParaRPr sz="1300"/>
          </a:p>
          <a:p>
            <a:pPr indent="-311150" lvl="0" marL="457200" rtl="0" algn="l">
              <a:lnSpc>
                <a:spcPct val="115000"/>
              </a:lnSpc>
              <a:spcBef>
                <a:spcPts val="0"/>
              </a:spcBef>
              <a:spcAft>
                <a:spcPts val="0"/>
              </a:spcAft>
              <a:buSzPts val="1300"/>
              <a:buChar char="●"/>
            </a:pPr>
            <a:r>
              <a:rPr b="1" lang="en" sz="1300"/>
              <a:t>Edge Data Sensitivity:</a:t>
            </a:r>
            <a:r>
              <a:rPr lang="en" sz="1300"/>
              <a:t> If the weights are heavily front-loaded, a single outlier can cause a massive, misleading spike in the trend line.</a:t>
            </a:r>
            <a:endParaRPr sz="1300"/>
          </a:p>
          <a:p>
            <a:pPr indent="0" lvl="0" marL="457200" rtl="0" algn="l">
              <a:lnSpc>
                <a:spcPct val="115000"/>
              </a:lnSpc>
              <a:spcBef>
                <a:spcPts val="1200"/>
              </a:spcBef>
              <a:spcAft>
                <a:spcPts val="0"/>
              </a:spcAft>
              <a:buNone/>
            </a:pPr>
            <a:r>
              <a:t/>
            </a:r>
            <a:endParaRPr b="1" sz="1500"/>
          </a:p>
          <a:p>
            <a:pPr indent="0" lvl="0" marL="0" rtl="0" algn="l">
              <a:lnSpc>
                <a:spcPct val="115000"/>
              </a:lnSpc>
              <a:spcBef>
                <a:spcPts val="1200"/>
              </a:spcBef>
              <a:spcAft>
                <a:spcPts val="0"/>
              </a:spcAft>
              <a:buNone/>
            </a:pPr>
            <a:r>
              <a:t/>
            </a:r>
            <a:endParaRPr sz="1900"/>
          </a:p>
          <a:p>
            <a:pPr indent="0" lvl="0" marL="457200" rtl="0" algn="l">
              <a:lnSpc>
                <a:spcPct val="115000"/>
              </a:lnSpc>
              <a:spcBef>
                <a:spcPts val="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212" name="Google Shape;212;p2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8"/>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8" name="Google Shape;218;p28"/>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Centered Moving Averages (2 × </a:t>
            </a:r>
            <a:r>
              <a:rPr i="1" lang="en" sz="2911">
                <a:solidFill>
                  <a:schemeClr val="lt1"/>
                </a:solidFill>
                <a:latin typeface="Arial"/>
                <a:ea typeface="Arial"/>
                <a:cs typeface="Arial"/>
                <a:sym typeface="Arial"/>
              </a:rPr>
              <a:t>m</a:t>
            </a:r>
            <a:r>
              <a:rPr lang="en">
                <a:solidFill>
                  <a:schemeClr val="lt1"/>
                </a:solidFill>
                <a:latin typeface="Arial"/>
                <a:ea typeface="Arial"/>
                <a:cs typeface="Arial"/>
                <a:sym typeface="Arial"/>
              </a:rPr>
              <a:t>-MA)</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solidFill>
                <a:schemeClr val="lt1"/>
              </a:solidFill>
            </a:endParaRPr>
          </a:p>
        </p:txBody>
      </p:sp>
      <p:pic>
        <p:nvPicPr>
          <p:cNvPr id="219" name="Google Shape;219;p28"/>
          <p:cNvPicPr preferRelativeResize="0"/>
          <p:nvPr/>
        </p:nvPicPr>
        <p:blipFill>
          <a:blip r:embed="rId3">
            <a:alphaModFix/>
          </a:blip>
          <a:stretch>
            <a:fillRect/>
          </a:stretch>
        </p:blipFill>
        <p:spPr>
          <a:xfrm>
            <a:off x="152400" y="888900"/>
            <a:ext cx="8839204" cy="4082953"/>
          </a:xfrm>
          <a:prstGeom prst="rect">
            <a:avLst/>
          </a:prstGeom>
          <a:noFill/>
          <a:ln>
            <a:noFill/>
          </a:ln>
        </p:spPr>
      </p:pic>
      <p:sp>
        <p:nvSpPr>
          <p:cNvPr id="220" name="Google Shape;220;p2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6" name="Google Shape;226;p29"/>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ACF</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solidFill>
                <a:schemeClr val="lt1"/>
              </a:solidFill>
            </a:endParaRPr>
          </a:p>
        </p:txBody>
      </p:sp>
      <p:pic>
        <p:nvPicPr>
          <p:cNvPr id="227" name="Google Shape;227;p29"/>
          <p:cNvPicPr preferRelativeResize="0"/>
          <p:nvPr/>
        </p:nvPicPr>
        <p:blipFill>
          <a:blip r:embed="rId3">
            <a:alphaModFix/>
          </a:blip>
          <a:stretch>
            <a:fillRect/>
          </a:stretch>
        </p:blipFill>
        <p:spPr>
          <a:xfrm>
            <a:off x="4290215" y="2806926"/>
            <a:ext cx="4731085" cy="2185350"/>
          </a:xfrm>
          <a:prstGeom prst="rect">
            <a:avLst/>
          </a:prstGeom>
          <a:noFill/>
          <a:ln>
            <a:noFill/>
          </a:ln>
        </p:spPr>
      </p:pic>
      <p:pic>
        <p:nvPicPr>
          <p:cNvPr id="228" name="Google Shape;228;p29"/>
          <p:cNvPicPr preferRelativeResize="0"/>
          <p:nvPr/>
        </p:nvPicPr>
        <p:blipFill>
          <a:blip r:embed="rId4">
            <a:alphaModFix/>
          </a:blip>
          <a:stretch>
            <a:fillRect/>
          </a:stretch>
        </p:blipFill>
        <p:spPr>
          <a:xfrm>
            <a:off x="0" y="837150"/>
            <a:ext cx="4264325" cy="1969775"/>
          </a:xfrm>
          <a:prstGeom prst="rect">
            <a:avLst/>
          </a:prstGeom>
          <a:noFill/>
          <a:ln>
            <a:noFill/>
          </a:ln>
        </p:spPr>
      </p:pic>
      <p:sp>
        <p:nvSpPr>
          <p:cNvPr id="229" name="Google Shape;229;p29"/>
          <p:cNvSpPr txBox="1"/>
          <p:nvPr/>
        </p:nvSpPr>
        <p:spPr>
          <a:xfrm>
            <a:off x="4571125" y="918775"/>
            <a:ext cx="4320300" cy="165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ACF (raw series)</a:t>
            </a:r>
            <a:endParaRPr b="1" sz="1100"/>
          </a:p>
          <a:p>
            <a:pPr indent="-298450" lvl="0" marL="457200" rtl="0" algn="l">
              <a:lnSpc>
                <a:spcPct val="115000"/>
              </a:lnSpc>
              <a:spcBef>
                <a:spcPts val="1200"/>
              </a:spcBef>
              <a:spcAft>
                <a:spcPts val="0"/>
              </a:spcAft>
              <a:buSzPts val="1100"/>
              <a:buChar char="●"/>
            </a:pPr>
            <a:r>
              <a:rPr lang="en" sz="1100"/>
              <a:t>Large positive autocorrelations at small lags</a:t>
            </a:r>
            <a:br>
              <a:rPr lang="en" sz="1100"/>
            </a:br>
            <a:endParaRPr sz="1100"/>
          </a:p>
          <a:p>
            <a:pPr indent="-298450" lvl="0" marL="457200" rtl="0" algn="l">
              <a:lnSpc>
                <a:spcPct val="115000"/>
              </a:lnSpc>
              <a:spcBef>
                <a:spcPts val="0"/>
              </a:spcBef>
              <a:spcAft>
                <a:spcPts val="0"/>
              </a:spcAft>
              <a:buSzPts val="1100"/>
              <a:buChar char="●"/>
            </a:pPr>
            <a:r>
              <a:rPr lang="en" sz="1100"/>
              <a:t>Slow decay across many lags</a:t>
            </a:r>
            <a:br>
              <a:rPr lang="en" sz="1100"/>
            </a:br>
            <a:endParaRPr sz="1100"/>
          </a:p>
          <a:p>
            <a:pPr indent="-298450" lvl="0" marL="457200" rtl="0" algn="l">
              <a:lnSpc>
                <a:spcPct val="115000"/>
              </a:lnSpc>
              <a:spcBef>
                <a:spcPts val="0"/>
              </a:spcBef>
              <a:spcAft>
                <a:spcPts val="0"/>
              </a:spcAft>
              <a:buSzPts val="1100"/>
              <a:buChar char="●"/>
            </a:pPr>
            <a:r>
              <a:rPr lang="en" sz="1100"/>
              <a:t>Indicates strong </a:t>
            </a:r>
            <a:r>
              <a:rPr b="1" lang="en" sz="1100"/>
              <a:t>trend</a:t>
            </a:r>
            <a:r>
              <a:rPr lang="en" sz="1100"/>
              <a:t> and </a:t>
            </a:r>
            <a:r>
              <a:rPr b="1" lang="en" sz="1100"/>
              <a:t>seasonal dependence</a:t>
            </a:r>
            <a:endParaRPr b="1" sz="11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
        <p:nvSpPr>
          <p:cNvPr id="230" name="Google Shape;230;p29"/>
          <p:cNvSpPr txBox="1"/>
          <p:nvPr/>
        </p:nvSpPr>
        <p:spPr>
          <a:xfrm>
            <a:off x="-27987" y="2704900"/>
            <a:ext cx="4320300" cy="255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100"/>
              <a:t>Interpretation</a:t>
            </a:r>
            <a:endParaRPr b="1" sz="1100"/>
          </a:p>
          <a:p>
            <a:pPr indent="-298450" lvl="0" marL="457200" rtl="0" algn="l">
              <a:lnSpc>
                <a:spcPct val="115000"/>
              </a:lnSpc>
              <a:spcBef>
                <a:spcPts val="1200"/>
              </a:spcBef>
              <a:spcAft>
                <a:spcPts val="0"/>
              </a:spcAft>
              <a:buSzPts val="1100"/>
              <a:buChar char="●"/>
            </a:pPr>
            <a:r>
              <a:rPr lang="en" sz="1100"/>
              <a:t>Trend causes correlations to persist across many lags</a:t>
            </a:r>
            <a:br>
              <a:rPr lang="en" sz="1100"/>
            </a:br>
            <a:endParaRPr sz="1100"/>
          </a:p>
          <a:p>
            <a:pPr indent="-298450" lvl="0" marL="457200" rtl="0" algn="l">
              <a:lnSpc>
                <a:spcPct val="115000"/>
              </a:lnSpc>
              <a:spcBef>
                <a:spcPts val="0"/>
              </a:spcBef>
              <a:spcAft>
                <a:spcPts val="0"/>
              </a:spcAft>
              <a:buSzPts val="1100"/>
              <a:buChar char="●"/>
            </a:pPr>
            <a:r>
              <a:rPr lang="en" sz="1100"/>
              <a:t>Seasonality creates repeated dependence at fixed intervals</a:t>
            </a:r>
            <a:br>
              <a:rPr lang="en" sz="1100"/>
            </a:br>
            <a:endParaRPr sz="1100"/>
          </a:p>
          <a:p>
            <a:pPr indent="-298450" lvl="0" marL="457200" rtl="0" algn="l">
              <a:lnSpc>
                <a:spcPct val="115000"/>
              </a:lnSpc>
              <a:spcBef>
                <a:spcPts val="0"/>
              </a:spcBef>
              <a:spcAft>
                <a:spcPts val="0"/>
              </a:spcAft>
              <a:buSzPts val="1100"/>
              <a:buChar char="●"/>
            </a:pPr>
            <a:r>
              <a:rPr lang="en" sz="1100"/>
              <a:t>Noise and structure are mixed together</a:t>
            </a:r>
            <a:endParaRPr sz="1100"/>
          </a:p>
          <a:p>
            <a:pPr indent="0" lvl="0" marL="0" rtl="0" algn="l">
              <a:lnSpc>
                <a:spcPct val="115000"/>
              </a:lnSpc>
              <a:spcBef>
                <a:spcPts val="1200"/>
              </a:spcBef>
              <a:spcAft>
                <a:spcPts val="0"/>
              </a:spcAft>
              <a:buNone/>
            </a:pPr>
            <a:r>
              <a:rPr b="1" lang="en" sz="1100"/>
              <a:t>Implication</a:t>
            </a:r>
            <a:endParaRPr b="1" sz="1100"/>
          </a:p>
          <a:p>
            <a:pPr indent="0" lvl="0" marL="381000" marR="381000" rtl="0" algn="l">
              <a:lnSpc>
                <a:spcPct val="115000"/>
              </a:lnSpc>
              <a:spcBef>
                <a:spcPts val="1200"/>
              </a:spcBef>
              <a:spcAft>
                <a:spcPts val="0"/>
              </a:spcAft>
              <a:buNone/>
            </a:pPr>
            <a:r>
              <a:rPr lang="en" sz="1100"/>
              <a:t>We cannot diagnose the true dependence structure while components are overlapping.</a:t>
            </a:r>
            <a:endParaRPr sz="1100"/>
          </a:p>
          <a:p>
            <a:pPr indent="0" lvl="0" marL="0" rtl="0" algn="l">
              <a:lnSpc>
                <a:spcPct val="115000"/>
              </a:lnSpc>
              <a:spcBef>
                <a:spcPts val="1200"/>
              </a:spcBef>
              <a:spcAft>
                <a:spcPts val="0"/>
              </a:spcAft>
              <a:buNone/>
            </a:pPr>
            <a:r>
              <a:t/>
            </a:r>
            <a:endParaRPr b="1" sz="11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
        <p:nvSpPr>
          <p:cNvPr id="231" name="Google Shape;231;p2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0"/>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7" name="Google Shape;237;p30"/>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Additive and multiplicative decompositions</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solidFill>
                <a:schemeClr val="lt1"/>
              </a:solidFill>
            </a:endParaRPr>
          </a:p>
        </p:txBody>
      </p:sp>
      <p:sp>
        <p:nvSpPr>
          <p:cNvPr id="238" name="Google Shape;238;p3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0"/>
          <p:cNvSpPr/>
          <p:nvPr/>
        </p:nvSpPr>
        <p:spPr>
          <a:xfrm>
            <a:off x="879400" y="134837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30"/>
          <p:cNvSpPr/>
          <p:nvPr/>
        </p:nvSpPr>
        <p:spPr>
          <a:xfrm>
            <a:off x="879400" y="220842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1" name="Google Shape;241;p30"/>
          <p:cNvSpPr/>
          <p:nvPr/>
        </p:nvSpPr>
        <p:spPr>
          <a:xfrm>
            <a:off x="879400" y="314927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2" name="Google Shape;242;p30"/>
          <p:cNvSpPr/>
          <p:nvPr/>
        </p:nvSpPr>
        <p:spPr>
          <a:xfrm>
            <a:off x="879400" y="4013350"/>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3" name="Google Shape;243;p30"/>
          <p:cNvSpPr/>
          <p:nvPr/>
        </p:nvSpPr>
        <p:spPr>
          <a:xfrm>
            <a:off x="5760300" y="406127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4" name="Google Shape;244;p30"/>
          <p:cNvSpPr/>
          <p:nvPr/>
        </p:nvSpPr>
        <p:spPr>
          <a:xfrm>
            <a:off x="5760300" y="314927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5" name="Google Shape;245;p30"/>
          <p:cNvSpPr/>
          <p:nvPr/>
        </p:nvSpPr>
        <p:spPr>
          <a:xfrm>
            <a:off x="5760300" y="223727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6" name="Google Shape;246;p30"/>
          <p:cNvSpPr/>
          <p:nvPr/>
        </p:nvSpPr>
        <p:spPr>
          <a:xfrm>
            <a:off x="5760300" y="1348375"/>
            <a:ext cx="23784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7" name="Google Shape;247;p30"/>
          <p:cNvSpPr txBox="1"/>
          <p:nvPr/>
        </p:nvSpPr>
        <p:spPr>
          <a:xfrm>
            <a:off x="1073075" y="143427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Trend-cycle </a:t>
            </a:r>
            <a:r>
              <a:rPr b="1" i="1" lang="en" sz="1300">
                <a:solidFill>
                  <a:schemeClr val="accent1"/>
                </a:solidFill>
                <a:latin typeface="Lato"/>
                <a:ea typeface="Lato"/>
                <a:cs typeface="Lato"/>
                <a:sym typeface="Lato"/>
              </a:rPr>
              <a:t> T</a:t>
            </a:r>
            <a:endParaRPr b="1" i="1" sz="1300">
              <a:solidFill>
                <a:schemeClr val="accent1"/>
              </a:solidFill>
              <a:latin typeface="Lato"/>
              <a:ea typeface="Lato"/>
              <a:cs typeface="Lato"/>
              <a:sym typeface="Lato"/>
            </a:endParaRPr>
          </a:p>
          <a:p>
            <a:pPr indent="0" lvl="0" marL="0" rtl="0" algn="ctr">
              <a:spcBef>
                <a:spcPts val="0"/>
              </a:spcBef>
              <a:spcAft>
                <a:spcPts val="0"/>
              </a:spcAft>
              <a:buNone/>
            </a:pPr>
            <a:r>
              <a:rPr lang="en" sz="1300">
                <a:solidFill>
                  <a:schemeClr val="accent1"/>
                </a:solidFill>
                <a:latin typeface="Lato"/>
                <a:ea typeface="Lato"/>
                <a:cs typeface="Lato"/>
                <a:sym typeface="Lato"/>
              </a:rPr>
              <a:t>(2 x m-MA)</a:t>
            </a:r>
            <a:endParaRPr sz="1300">
              <a:solidFill>
                <a:schemeClr val="accent1"/>
              </a:solidFill>
              <a:latin typeface="Lato"/>
              <a:ea typeface="Lato"/>
              <a:cs typeface="Lato"/>
              <a:sym typeface="Lato"/>
            </a:endParaRPr>
          </a:p>
        </p:txBody>
      </p:sp>
      <p:sp>
        <p:nvSpPr>
          <p:cNvPr id="248" name="Google Shape;248;p30"/>
          <p:cNvSpPr txBox="1"/>
          <p:nvPr/>
        </p:nvSpPr>
        <p:spPr>
          <a:xfrm>
            <a:off x="1073075" y="229177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Detrended seasons</a:t>
            </a:r>
            <a:endParaRPr sz="1300">
              <a:solidFill>
                <a:schemeClr val="accent1"/>
              </a:solidFill>
              <a:latin typeface="Lato"/>
              <a:ea typeface="Lato"/>
              <a:cs typeface="Lato"/>
              <a:sym typeface="Lato"/>
            </a:endParaRPr>
          </a:p>
          <a:p>
            <a:pPr indent="0" lvl="0" marL="0" rtl="0" algn="ctr">
              <a:spcBef>
                <a:spcPts val="0"/>
              </a:spcBef>
              <a:spcAft>
                <a:spcPts val="0"/>
              </a:spcAft>
              <a:buNone/>
            </a:pPr>
            <a:r>
              <a:rPr b="1" i="1" lang="en" sz="1300">
                <a:solidFill>
                  <a:schemeClr val="accent1"/>
                </a:solidFill>
                <a:latin typeface="Lato"/>
                <a:ea typeface="Lato"/>
                <a:cs typeface="Lato"/>
                <a:sym typeface="Lato"/>
              </a:rPr>
              <a:t>y - T</a:t>
            </a:r>
            <a:endParaRPr b="1" i="1" sz="1300">
              <a:solidFill>
                <a:schemeClr val="accent1"/>
              </a:solidFill>
              <a:latin typeface="Lato"/>
              <a:ea typeface="Lato"/>
              <a:cs typeface="Lato"/>
              <a:sym typeface="Lato"/>
            </a:endParaRPr>
          </a:p>
        </p:txBody>
      </p:sp>
      <p:sp>
        <p:nvSpPr>
          <p:cNvPr id="249" name="Google Shape;249;p30"/>
          <p:cNvSpPr txBox="1"/>
          <p:nvPr/>
        </p:nvSpPr>
        <p:spPr>
          <a:xfrm>
            <a:off x="1073075" y="323267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Average of each detrended season</a:t>
            </a:r>
            <a:r>
              <a:rPr b="1" i="1" lang="en" sz="1300">
                <a:solidFill>
                  <a:schemeClr val="accent1"/>
                </a:solidFill>
                <a:latin typeface="Lato"/>
                <a:ea typeface="Lato"/>
                <a:cs typeface="Lato"/>
                <a:sym typeface="Lato"/>
              </a:rPr>
              <a:t> S</a:t>
            </a:r>
            <a:endParaRPr b="1" i="1" sz="1300">
              <a:solidFill>
                <a:schemeClr val="accent1"/>
              </a:solidFill>
              <a:latin typeface="Lato"/>
              <a:ea typeface="Lato"/>
              <a:cs typeface="Lato"/>
              <a:sym typeface="Lato"/>
            </a:endParaRPr>
          </a:p>
        </p:txBody>
      </p:sp>
      <p:sp>
        <p:nvSpPr>
          <p:cNvPr id="250" name="Google Shape;250;p30"/>
          <p:cNvSpPr txBox="1"/>
          <p:nvPr/>
        </p:nvSpPr>
        <p:spPr>
          <a:xfrm>
            <a:off x="1043800" y="409012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Remainder </a:t>
            </a:r>
            <a:endParaRPr sz="1300">
              <a:solidFill>
                <a:schemeClr val="accent1"/>
              </a:solidFill>
              <a:latin typeface="Lato"/>
              <a:ea typeface="Lato"/>
              <a:cs typeface="Lato"/>
              <a:sym typeface="Lato"/>
            </a:endParaRPr>
          </a:p>
          <a:p>
            <a:pPr indent="0" lvl="0" marL="0" rtl="0" algn="ctr">
              <a:spcBef>
                <a:spcPts val="0"/>
              </a:spcBef>
              <a:spcAft>
                <a:spcPts val="0"/>
              </a:spcAft>
              <a:buNone/>
            </a:pPr>
            <a:r>
              <a:rPr b="1" i="1" lang="en" sz="1300">
                <a:solidFill>
                  <a:schemeClr val="accent1"/>
                </a:solidFill>
                <a:latin typeface="Lato"/>
                <a:ea typeface="Lato"/>
                <a:cs typeface="Lato"/>
                <a:sym typeface="Lato"/>
              </a:rPr>
              <a:t>R = y - T -S</a:t>
            </a:r>
            <a:endParaRPr b="1" i="1" sz="1300">
              <a:solidFill>
                <a:schemeClr val="accent1"/>
              </a:solidFill>
              <a:latin typeface="Lato"/>
              <a:ea typeface="Lato"/>
              <a:cs typeface="Lato"/>
              <a:sym typeface="Lato"/>
            </a:endParaRPr>
          </a:p>
        </p:txBody>
      </p:sp>
      <p:sp>
        <p:nvSpPr>
          <p:cNvPr id="251" name="Google Shape;251;p30"/>
          <p:cNvSpPr txBox="1"/>
          <p:nvPr/>
        </p:nvSpPr>
        <p:spPr>
          <a:xfrm>
            <a:off x="5924700" y="233222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Detrended seasons</a:t>
            </a:r>
            <a:endParaRPr sz="1300">
              <a:solidFill>
                <a:schemeClr val="accent1"/>
              </a:solidFill>
              <a:latin typeface="Lato"/>
              <a:ea typeface="Lato"/>
              <a:cs typeface="Lato"/>
              <a:sym typeface="Lato"/>
            </a:endParaRPr>
          </a:p>
          <a:p>
            <a:pPr indent="0" lvl="0" marL="0" rtl="0" algn="ctr">
              <a:spcBef>
                <a:spcPts val="0"/>
              </a:spcBef>
              <a:spcAft>
                <a:spcPts val="0"/>
              </a:spcAft>
              <a:buNone/>
            </a:pPr>
            <a:r>
              <a:rPr b="1" i="1" lang="en" sz="1300">
                <a:solidFill>
                  <a:schemeClr val="accent1"/>
                </a:solidFill>
                <a:latin typeface="Lato"/>
                <a:ea typeface="Lato"/>
                <a:cs typeface="Lato"/>
                <a:sym typeface="Lato"/>
              </a:rPr>
              <a:t>y / T</a:t>
            </a:r>
            <a:endParaRPr b="1" i="1" sz="1300">
              <a:solidFill>
                <a:schemeClr val="accent1"/>
              </a:solidFill>
              <a:latin typeface="Lato"/>
              <a:ea typeface="Lato"/>
              <a:cs typeface="Lato"/>
              <a:sym typeface="Lato"/>
            </a:endParaRPr>
          </a:p>
        </p:txBody>
      </p:sp>
      <p:sp>
        <p:nvSpPr>
          <p:cNvPr id="252" name="Google Shape;252;p30"/>
          <p:cNvSpPr txBox="1"/>
          <p:nvPr/>
        </p:nvSpPr>
        <p:spPr>
          <a:xfrm>
            <a:off x="5924700" y="323267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Average of each detrended season </a:t>
            </a:r>
            <a:r>
              <a:rPr b="1" i="1" lang="en" sz="1300">
                <a:solidFill>
                  <a:schemeClr val="accent1"/>
                </a:solidFill>
                <a:latin typeface="Lato"/>
                <a:ea typeface="Lato"/>
                <a:cs typeface="Lato"/>
                <a:sym typeface="Lato"/>
              </a:rPr>
              <a:t>S</a:t>
            </a:r>
            <a:endParaRPr b="1" i="1" sz="1300">
              <a:solidFill>
                <a:schemeClr val="accent1"/>
              </a:solidFill>
              <a:latin typeface="Lato"/>
              <a:ea typeface="Lato"/>
              <a:cs typeface="Lato"/>
              <a:sym typeface="Lato"/>
            </a:endParaRPr>
          </a:p>
        </p:txBody>
      </p:sp>
      <p:sp>
        <p:nvSpPr>
          <p:cNvPr id="253" name="Google Shape;253;p30"/>
          <p:cNvSpPr txBox="1"/>
          <p:nvPr/>
        </p:nvSpPr>
        <p:spPr>
          <a:xfrm>
            <a:off x="5924700" y="140867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Trend-cycle </a:t>
            </a:r>
            <a:r>
              <a:rPr b="1" i="1" lang="en" sz="1300">
                <a:solidFill>
                  <a:schemeClr val="accent1"/>
                </a:solidFill>
                <a:latin typeface="Lato"/>
                <a:ea typeface="Lato"/>
                <a:cs typeface="Lato"/>
                <a:sym typeface="Lato"/>
              </a:rPr>
              <a:t> T</a:t>
            </a:r>
            <a:endParaRPr b="1" i="1" sz="1300">
              <a:solidFill>
                <a:schemeClr val="accent1"/>
              </a:solidFill>
              <a:latin typeface="Lato"/>
              <a:ea typeface="Lato"/>
              <a:cs typeface="Lato"/>
              <a:sym typeface="Lato"/>
            </a:endParaRPr>
          </a:p>
          <a:p>
            <a:pPr indent="0" lvl="0" marL="0" rtl="0" algn="ctr">
              <a:spcBef>
                <a:spcPts val="0"/>
              </a:spcBef>
              <a:spcAft>
                <a:spcPts val="0"/>
              </a:spcAft>
              <a:buNone/>
            </a:pPr>
            <a:r>
              <a:rPr lang="en" sz="1300">
                <a:solidFill>
                  <a:schemeClr val="accent1"/>
                </a:solidFill>
                <a:latin typeface="Lato"/>
                <a:ea typeface="Lato"/>
                <a:cs typeface="Lato"/>
                <a:sym typeface="Lato"/>
              </a:rPr>
              <a:t>(2 x m-MA)</a:t>
            </a:r>
            <a:endParaRPr sz="1300">
              <a:solidFill>
                <a:schemeClr val="accent1"/>
              </a:solidFill>
              <a:latin typeface="Lato"/>
              <a:ea typeface="Lato"/>
              <a:cs typeface="Lato"/>
              <a:sym typeface="Lato"/>
            </a:endParaRPr>
          </a:p>
        </p:txBody>
      </p:sp>
      <p:sp>
        <p:nvSpPr>
          <p:cNvPr id="254" name="Google Shape;254;p30"/>
          <p:cNvSpPr txBox="1"/>
          <p:nvPr/>
        </p:nvSpPr>
        <p:spPr>
          <a:xfrm>
            <a:off x="5924700" y="413312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Remainder </a:t>
            </a:r>
            <a:endParaRPr sz="1300">
              <a:solidFill>
                <a:schemeClr val="accent1"/>
              </a:solidFill>
              <a:latin typeface="Lato"/>
              <a:ea typeface="Lato"/>
              <a:cs typeface="Lato"/>
              <a:sym typeface="Lato"/>
            </a:endParaRPr>
          </a:p>
          <a:p>
            <a:pPr indent="0" lvl="0" marL="0" rtl="0" algn="ctr">
              <a:spcBef>
                <a:spcPts val="0"/>
              </a:spcBef>
              <a:spcAft>
                <a:spcPts val="0"/>
              </a:spcAft>
              <a:buNone/>
            </a:pPr>
            <a:r>
              <a:rPr b="1" i="1" lang="en" sz="1300">
                <a:solidFill>
                  <a:schemeClr val="accent1"/>
                </a:solidFill>
                <a:latin typeface="Lato"/>
                <a:ea typeface="Lato"/>
                <a:cs typeface="Lato"/>
                <a:sym typeface="Lato"/>
              </a:rPr>
              <a:t>R = y / T / S</a:t>
            </a:r>
            <a:endParaRPr b="1" i="1" sz="1300">
              <a:solidFill>
                <a:schemeClr val="accent1"/>
              </a:solidFill>
              <a:latin typeface="Lato"/>
              <a:ea typeface="Lato"/>
              <a:cs typeface="Lato"/>
              <a:sym typeface="Lato"/>
            </a:endParaRPr>
          </a:p>
        </p:txBody>
      </p:sp>
      <p:sp>
        <p:nvSpPr>
          <p:cNvPr id="255" name="Google Shape;255;p30"/>
          <p:cNvSpPr/>
          <p:nvPr/>
        </p:nvSpPr>
        <p:spPr>
          <a:xfrm>
            <a:off x="3413000" y="3149275"/>
            <a:ext cx="2192100" cy="7365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30"/>
          <p:cNvSpPr txBox="1"/>
          <p:nvPr/>
        </p:nvSpPr>
        <p:spPr>
          <a:xfrm>
            <a:off x="3484250" y="3232675"/>
            <a:ext cx="2049600" cy="569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300">
                <a:solidFill>
                  <a:schemeClr val="accent1"/>
                </a:solidFill>
                <a:latin typeface="Lato"/>
                <a:ea typeface="Lato"/>
                <a:cs typeface="Lato"/>
                <a:sym typeface="Lato"/>
              </a:rPr>
              <a:t>Seasonal means by season</a:t>
            </a:r>
            <a:endParaRPr b="1" i="1" sz="1300">
              <a:solidFill>
                <a:schemeClr val="accent1"/>
              </a:solidFill>
              <a:latin typeface="Lato"/>
              <a:ea typeface="Lato"/>
              <a:cs typeface="Lato"/>
              <a:sym typeface="Lato"/>
            </a:endParaRPr>
          </a:p>
        </p:txBody>
      </p:sp>
      <p:cxnSp>
        <p:nvCxnSpPr>
          <p:cNvPr id="257" name="Google Shape;257;p30"/>
          <p:cNvCxnSpPr>
            <a:stCxn id="247" idx="2"/>
            <a:endCxn id="248" idx="0"/>
          </p:cNvCxnSpPr>
          <p:nvPr/>
        </p:nvCxnSpPr>
        <p:spPr>
          <a:xfrm>
            <a:off x="2097875" y="2003975"/>
            <a:ext cx="0" cy="28770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p30"/>
          <p:cNvCxnSpPr/>
          <p:nvPr/>
        </p:nvCxnSpPr>
        <p:spPr>
          <a:xfrm>
            <a:off x="6949500" y="2011450"/>
            <a:ext cx="0" cy="287700"/>
          </a:xfrm>
          <a:prstGeom prst="straightConnector1">
            <a:avLst/>
          </a:prstGeom>
          <a:noFill/>
          <a:ln cap="flat" cmpd="sng" w="9525">
            <a:solidFill>
              <a:schemeClr val="dk2"/>
            </a:solidFill>
            <a:prstDash val="solid"/>
            <a:round/>
            <a:headEnd len="med" w="med" type="none"/>
            <a:tailEnd len="med" w="med" type="triangle"/>
          </a:ln>
        </p:spPr>
      </p:cxnSp>
      <p:cxnSp>
        <p:nvCxnSpPr>
          <p:cNvPr id="259" name="Google Shape;259;p30"/>
          <p:cNvCxnSpPr/>
          <p:nvPr/>
        </p:nvCxnSpPr>
        <p:spPr>
          <a:xfrm>
            <a:off x="2047925" y="3802375"/>
            <a:ext cx="0" cy="287700"/>
          </a:xfrm>
          <a:prstGeom prst="straightConnector1">
            <a:avLst/>
          </a:prstGeom>
          <a:noFill/>
          <a:ln cap="flat" cmpd="sng" w="9525">
            <a:solidFill>
              <a:schemeClr val="dk2"/>
            </a:solidFill>
            <a:prstDash val="solid"/>
            <a:round/>
            <a:headEnd len="med" w="med" type="none"/>
            <a:tailEnd len="med" w="med" type="triangle"/>
          </a:ln>
        </p:spPr>
      </p:cxnSp>
      <p:cxnSp>
        <p:nvCxnSpPr>
          <p:cNvPr id="260" name="Google Shape;260;p30"/>
          <p:cNvCxnSpPr/>
          <p:nvPr/>
        </p:nvCxnSpPr>
        <p:spPr>
          <a:xfrm>
            <a:off x="2051850" y="2903225"/>
            <a:ext cx="0" cy="287700"/>
          </a:xfrm>
          <a:prstGeom prst="straightConnector1">
            <a:avLst/>
          </a:prstGeom>
          <a:noFill/>
          <a:ln cap="flat" cmpd="sng" w="9525">
            <a:solidFill>
              <a:schemeClr val="dk2"/>
            </a:solidFill>
            <a:prstDash val="solid"/>
            <a:round/>
            <a:headEnd len="med" w="med" type="none"/>
            <a:tailEnd len="med" w="med" type="triangle"/>
          </a:ln>
        </p:spPr>
      </p:cxnSp>
      <p:cxnSp>
        <p:nvCxnSpPr>
          <p:cNvPr id="261" name="Google Shape;261;p30"/>
          <p:cNvCxnSpPr/>
          <p:nvPr/>
        </p:nvCxnSpPr>
        <p:spPr>
          <a:xfrm>
            <a:off x="6949500" y="3823900"/>
            <a:ext cx="0" cy="287700"/>
          </a:xfrm>
          <a:prstGeom prst="straightConnector1">
            <a:avLst/>
          </a:prstGeom>
          <a:noFill/>
          <a:ln cap="flat" cmpd="sng" w="9525">
            <a:solidFill>
              <a:schemeClr val="dk2"/>
            </a:solidFill>
            <a:prstDash val="solid"/>
            <a:round/>
            <a:headEnd len="med" w="med" type="none"/>
            <a:tailEnd len="med" w="med" type="triangle"/>
          </a:ln>
        </p:spPr>
      </p:cxnSp>
      <p:cxnSp>
        <p:nvCxnSpPr>
          <p:cNvPr id="262" name="Google Shape;262;p30"/>
          <p:cNvCxnSpPr/>
          <p:nvPr/>
        </p:nvCxnSpPr>
        <p:spPr>
          <a:xfrm>
            <a:off x="6949500" y="2923450"/>
            <a:ext cx="0" cy="287700"/>
          </a:xfrm>
          <a:prstGeom prst="straightConnector1">
            <a:avLst/>
          </a:prstGeom>
          <a:noFill/>
          <a:ln cap="flat" cmpd="sng" w="9525">
            <a:solidFill>
              <a:schemeClr val="dk2"/>
            </a:solidFill>
            <a:prstDash val="solid"/>
            <a:round/>
            <a:headEnd len="med" w="med" type="none"/>
            <a:tailEnd len="med" w="med" type="triangle"/>
          </a:ln>
        </p:spPr>
      </p:cxnSp>
      <p:sp>
        <p:nvSpPr>
          <p:cNvPr id="263" name="Google Shape;263;p30"/>
          <p:cNvSpPr/>
          <p:nvPr/>
        </p:nvSpPr>
        <p:spPr>
          <a:xfrm>
            <a:off x="558875" y="845638"/>
            <a:ext cx="3078000" cy="39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4" name="Google Shape;264;p30"/>
          <p:cNvSpPr/>
          <p:nvPr/>
        </p:nvSpPr>
        <p:spPr>
          <a:xfrm>
            <a:off x="5410500" y="845625"/>
            <a:ext cx="3078000" cy="393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5" name="Google Shape;265;p30"/>
          <p:cNvSpPr txBox="1"/>
          <p:nvPr/>
        </p:nvSpPr>
        <p:spPr>
          <a:xfrm>
            <a:off x="876700" y="812875"/>
            <a:ext cx="24303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1"/>
                </a:solidFill>
                <a:latin typeface="Lato"/>
                <a:ea typeface="Lato"/>
                <a:cs typeface="Lato"/>
                <a:sym typeface="Lato"/>
              </a:rPr>
              <a:t>Additive decomposition</a:t>
            </a:r>
            <a:endParaRPr b="1" sz="1500">
              <a:solidFill>
                <a:schemeClr val="accent1"/>
              </a:solidFill>
              <a:latin typeface="Lato"/>
              <a:ea typeface="Lato"/>
              <a:cs typeface="Lato"/>
              <a:sym typeface="Lato"/>
            </a:endParaRPr>
          </a:p>
        </p:txBody>
      </p:sp>
      <p:sp>
        <p:nvSpPr>
          <p:cNvPr id="266" name="Google Shape;266;p30"/>
          <p:cNvSpPr txBox="1"/>
          <p:nvPr/>
        </p:nvSpPr>
        <p:spPr>
          <a:xfrm>
            <a:off x="5508300" y="845638"/>
            <a:ext cx="2882400" cy="393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500">
                <a:solidFill>
                  <a:schemeClr val="accent1"/>
                </a:solidFill>
                <a:latin typeface="Lato"/>
                <a:ea typeface="Lato"/>
                <a:cs typeface="Lato"/>
                <a:sym typeface="Lato"/>
              </a:rPr>
              <a:t>Multiplicative </a:t>
            </a:r>
            <a:r>
              <a:rPr b="1" lang="en" sz="1500">
                <a:solidFill>
                  <a:schemeClr val="accent1"/>
                </a:solidFill>
                <a:latin typeface="Lato"/>
                <a:ea typeface="Lato"/>
                <a:cs typeface="Lato"/>
                <a:sym typeface="Lato"/>
              </a:rPr>
              <a:t>decomposition</a:t>
            </a:r>
            <a:endParaRPr b="1" sz="1500">
              <a:solidFill>
                <a:schemeClr val="accent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1"/>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2" name="Google Shape;272;p31"/>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Classical Decomposition</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solidFill>
                <a:schemeClr val="lt1"/>
              </a:solidFill>
            </a:endParaRPr>
          </a:p>
        </p:txBody>
      </p:sp>
      <p:pic>
        <p:nvPicPr>
          <p:cNvPr id="273" name="Google Shape;273;p31"/>
          <p:cNvPicPr preferRelativeResize="0"/>
          <p:nvPr/>
        </p:nvPicPr>
        <p:blipFill>
          <a:blip r:embed="rId3">
            <a:alphaModFix/>
          </a:blip>
          <a:stretch>
            <a:fillRect/>
          </a:stretch>
        </p:blipFill>
        <p:spPr>
          <a:xfrm>
            <a:off x="4399901" y="840438"/>
            <a:ext cx="4361925" cy="4369774"/>
          </a:xfrm>
          <a:prstGeom prst="rect">
            <a:avLst/>
          </a:prstGeom>
          <a:noFill/>
          <a:ln>
            <a:noFill/>
          </a:ln>
        </p:spPr>
      </p:pic>
      <p:sp>
        <p:nvSpPr>
          <p:cNvPr id="274" name="Google Shape;274;p31"/>
          <p:cNvSpPr txBox="1"/>
          <p:nvPr/>
        </p:nvSpPr>
        <p:spPr>
          <a:xfrm>
            <a:off x="122700" y="926375"/>
            <a:ext cx="4320300" cy="403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sz="1300"/>
              <a:t>What decomposition does</a:t>
            </a:r>
            <a:endParaRPr b="1" sz="1300"/>
          </a:p>
          <a:p>
            <a:pPr indent="-311150" lvl="0" marL="457200" rtl="0" algn="l">
              <a:lnSpc>
                <a:spcPct val="115000"/>
              </a:lnSpc>
              <a:spcBef>
                <a:spcPts val="1200"/>
              </a:spcBef>
              <a:spcAft>
                <a:spcPts val="0"/>
              </a:spcAft>
              <a:buSzPts val="1300"/>
              <a:buChar char="●"/>
            </a:pPr>
            <a:r>
              <a:rPr lang="en" sz="1300"/>
              <a:t>Moving averages remove trend</a:t>
            </a:r>
            <a:br>
              <a:rPr lang="en" sz="1300"/>
            </a:br>
            <a:endParaRPr sz="1300"/>
          </a:p>
          <a:p>
            <a:pPr indent="-311150" lvl="0" marL="457200" rtl="0" algn="l">
              <a:lnSpc>
                <a:spcPct val="115000"/>
              </a:lnSpc>
              <a:spcBef>
                <a:spcPts val="0"/>
              </a:spcBef>
              <a:spcAft>
                <a:spcPts val="0"/>
              </a:spcAft>
              <a:buSzPts val="1300"/>
              <a:buChar char="●"/>
            </a:pPr>
            <a:r>
              <a:rPr lang="en" sz="1300"/>
              <a:t>Seasonal averaging removes seasonal effects</a:t>
            </a:r>
            <a:br>
              <a:rPr lang="en" sz="1300"/>
            </a:br>
            <a:endParaRPr sz="1300"/>
          </a:p>
          <a:p>
            <a:pPr indent="-311150" lvl="0" marL="457200" rtl="0" algn="l">
              <a:lnSpc>
                <a:spcPct val="115000"/>
              </a:lnSpc>
              <a:spcBef>
                <a:spcPts val="0"/>
              </a:spcBef>
              <a:spcAft>
                <a:spcPts val="0"/>
              </a:spcAft>
              <a:buSzPts val="1300"/>
              <a:buChar char="●"/>
            </a:pPr>
            <a:r>
              <a:rPr lang="en" sz="1300"/>
              <a:t>Leaves a remainder component</a:t>
            </a:r>
            <a:br>
              <a:rPr lang="en" sz="1300"/>
            </a:br>
            <a:endParaRPr sz="1300"/>
          </a:p>
          <a:p>
            <a:pPr indent="0" lvl="0" marL="0" rtl="0" algn="l">
              <a:lnSpc>
                <a:spcPct val="115000"/>
              </a:lnSpc>
              <a:spcBef>
                <a:spcPts val="1200"/>
              </a:spcBef>
              <a:spcAft>
                <a:spcPts val="0"/>
              </a:spcAft>
              <a:buNone/>
            </a:pPr>
            <a:r>
              <a:rPr b="1" lang="en" sz="1300"/>
              <a:t>ACF after decomposition</a:t>
            </a:r>
            <a:endParaRPr b="1" sz="1300"/>
          </a:p>
          <a:p>
            <a:pPr indent="-311150" lvl="0" marL="457200" rtl="0" algn="l">
              <a:lnSpc>
                <a:spcPct val="115000"/>
              </a:lnSpc>
              <a:spcBef>
                <a:spcPts val="1200"/>
              </a:spcBef>
              <a:spcAft>
                <a:spcPts val="0"/>
              </a:spcAft>
              <a:buSzPts val="1300"/>
              <a:buChar char="●"/>
            </a:pPr>
            <a:r>
              <a:rPr lang="en" sz="1300"/>
              <a:t>Trend in ACF is  isolated in trend component</a:t>
            </a:r>
            <a:br>
              <a:rPr lang="en" sz="1300"/>
            </a:br>
            <a:endParaRPr sz="1300"/>
          </a:p>
          <a:p>
            <a:pPr indent="-311150" lvl="0" marL="457200" rtl="0" algn="l">
              <a:lnSpc>
                <a:spcPct val="115000"/>
              </a:lnSpc>
              <a:spcBef>
                <a:spcPts val="0"/>
              </a:spcBef>
              <a:spcAft>
                <a:spcPts val="0"/>
              </a:spcAft>
              <a:buSzPts val="1300"/>
              <a:buChar char="●"/>
            </a:pPr>
            <a:r>
              <a:rPr lang="en" sz="1300"/>
              <a:t>Seasonal spikes are isolated in seasonal component</a:t>
            </a:r>
            <a:br>
              <a:rPr lang="en" sz="1300"/>
            </a:br>
            <a:endParaRPr sz="1300"/>
          </a:p>
          <a:p>
            <a:pPr indent="-298450" lvl="0" marL="457200" rtl="0" algn="l">
              <a:lnSpc>
                <a:spcPct val="115000"/>
              </a:lnSpc>
              <a:spcBef>
                <a:spcPts val="0"/>
              </a:spcBef>
              <a:spcAft>
                <a:spcPts val="0"/>
              </a:spcAft>
              <a:buSzPts val="1100"/>
              <a:buChar char="●"/>
            </a:pPr>
            <a:r>
              <a:rPr lang="en" sz="1300"/>
              <a:t>Remainder ACF preferably ideally near zero</a:t>
            </a:r>
            <a:br>
              <a:rPr lang="en" sz="1100"/>
            </a:br>
            <a:endParaRPr sz="1100"/>
          </a:p>
          <a:p>
            <a:pPr indent="0" lvl="0" marL="381000" marR="38100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t/>
            </a:r>
            <a:endParaRPr b="1" sz="1100"/>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
        <p:nvSpPr>
          <p:cNvPr id="275" name="Google Shape;275;p3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nvSpPr>
        <p:spPr>
          <a:xfrm>
            <a:off x="270000" y="991100"/>
            <a:ext cx="3724200" cy="370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800"/>
              <a:t>Classical Decomposition — Pros</a:t>
            </a:r>
            <a:endParaRPr b="1" sz="1800"/>
          </a:p>
          <a:p>
            <a:pPr indent="-304800" lvl="0" marL="457200" rtl="0" algn="l">
              <a:lnSpc>
                <a:spcPct val="115000"/>
              </a:lnSpc>
              <a:spcBef>
                <a:spcPts val="1200"/>
              </a:spcBef>
              <a:spcAft>
                <a:spcPts val="0"/>
              </a:spcAft>
              <a:buSzPts val="1200"/>
              <a:buChar char="●"/>
            </a:pPr>
            <a:r>
              <a:rPr lang="en" sz="1200"/>
              <a:t>Simple and easy to explain</a:t>
            </a:r>
            <a:br>
              <a:rPr lang="en" sz="1200"/>
            </a:br>
            <a:endParaRPr sz="1200"/>
          </a:p>
          <a:p>
            <a:pPr indent="-304800" lvl="0" marL="457200" rtl="0" algn="l">
              <a:lnSpc>
                <a:spcPct val="115000"/>
              </a:lnSpc>
              <a:spcBef>
                <a:spcPts val="0"/>
              </a:spcBef>
              <a:spcAft>
                <a:spcPts val="0"/>
              </a:spcAft>
              <a:buSzPts val="1200"/>
              <a:buChar char="●"/>
            </a:pPr>
            <a:r>
              <a:rPr lang="en" sz="1200"/>
              <a:t>Clearly separates trend, seasonality, and noise</a:t>
            </a:r>
            <a:br>
              <a:rPr lang="en" sz="1200"/>
            </a:br>
            <a:endParaRPr sz="1200"/>
          </a:p>
          <a:p>
            <a:pPr indent="-304800" lvl="0" marL="457200" rtl="0" algn="l">
              <a:lnSpc>
                <a:spcPct val="115000"/>
              </a:lnSpc>
              <a:spcBef>
                <a:spcPts val="0"/>
              </a:spcBef>
              <a:spcAft>
                <a:spcPts val="0"/>
              </a:spcAft>
              <a:buSzPts val="1200"/>
              <a:buChar char="●"/>
            </a:pPr>
            <a:r>
              <a:rPr lang="en" sz="1200"/>
              <a:t>Helps visualize structure in the data</a:t>
            </a:r>
            <a:br>
              <a:rPr lang="en" sz="1200"/>
            </a:br>
            <a:endParaRPr sz="1200"/>
          </a:p>
          <a:p>
            <a:pPr indent="-304800" lvl="0" marL="457200" rtl="0" algn="l">
              <a:lnSpc>
                <a:spcPct val="115000"/>
              </a:lnSpc>
              <a:spcBef>
                <a:spcPts val="0"/>
              </a:spcBef>
              <a:spcAft>
                <a:spcPts val="0"/>
              </a:spcAft>
              <a:buSzPts val="1200"/>
              <a:buChar char="●"/>
            </a:pPr>
            <a:r>
              <a:rPr lang="en" sz="1200"/>
              <a:t>Makes ACF patterns easier to interpret</a:t>
            </a:r>
            <a:br>
              <a:rPr lang="en" sz="1200"/>
            </a:br>
            <a:endParaRPr sz="1200"/>
          </a:p>
          <a:p>
            <a:pPr indent="-304800" lvl="0" marL="457200" rtl="0" algn="l">
              <a:lnSpc>
                <a:spcPct val="115000"/>
              </a:lnSpc>
              <a:spcBef>
                <a:spcPts val="0"/>
              </a:spcBef>
              <a:spcAft>
                <a:spcPts val="0"/>
              </a:spcAft>
              <a:buSzPts val="1200"/>
              <a:buChar char="●"/>
            </a:pPr>
            <a:r>
              <a:rPr lang="en" sz="1200"/>
              <a:t>Useful as an exploratory tool before modeling</a:t>
            </a:r>
            <a:br>
              <a:rPr lang="en" sz="1200"/>
            </a:br>
            <a:endParaRPr sz="1200"/>
          </a:p>
          <a:p>
            <a:pPr indent="-304800" lvl="0" marL="457200" rtl="0" algn="l">
              <a:lnSpc>
                <a:spcPct val="115000"/>
              </a:lnSpc>
              <a:spcBef>
                <a:spcPts val="0"/>
              </a:spcBef>
              <a:spcAft>
                <a:spcPts val="0"/>
              </a:spcAft>
              <a:buSzPts val="1200"/>
              <a:buChar char="●"/>
            </a:pPr>
            <a:r>
              <a:rPr lang="en" sz="1200"/>
              <a:t>Works well when seasonality is stable over time</a:t>
            </a:r>
            <a:endParaRPr sz="1200"/>
          </a:p>
          <a:p>
            <a:pPr indent="0" lvl="0" marL="0" rtl="0" algn="l">
              <a:lnSpc>
                <a:spcPct val="115000"/>
              </a:lnSpc>
              <a:spcBef>
                <a:spcPts val="1200"/>
              </a:spcBef>
              <a:spcAft>
                <a:spcPts val="0"/>
              </a:spcAft>
              <a:buNone/>
            </a:pPr>
            <a:r>
              <a:t/>
            </a:r>
            <a:endParaRPr b="1" sz="1500"/>
          </a:p>
          <a:p>
            <a:pPr indent="0" lvl="0" marL="457200" rtl="0" algn="l">
              <a:lnSpc>
                <a:spcPct val="115000"/>
              </a:lnSpc>
              <a:spcBef>
                <a:spcPts val="120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281" name="Google Shape;281;p32"/>
          <p:cNvSpPr/>
          <p:nvPr/>
        </p:nvSpPr>
        <p:spPr>
          <a:xfrm>
            <a:off x="122700" y="0"/>
            <a:ext cx="8898600" cy="736500"/>
          </a:xfrm>
          <a:prstGeom prst="rect">
            <a:avLst/>
          </a:prstGeom>
          <a:solidFill>
            <a:srgbClr val="45818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2" name="Google Shape;282;p32"/>
          <p:cNvSpPr txBox="1"/>
          <p:nvPr>
            <p:ph idx="4294967295" type="title"/>
          </p:nvPr>
        </p:nvSpPr>
        <p:spPr>
          <a:xfrm>
            <a:off x="727650" y="100650"/>
            <a:ext cx="7688700" cy="535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en">
                <a:solidFill>
                  <a:schemeClr val="lt1"/>
                </a:solidFill>
                <a:latin typeface="Arial"/>
                <a:ea typeface="Arial"/>
                <a:cs typeface="Arial"/>
                <a:sym typeface="Arial"/>
              </a:rPr>
              <a:t>Pros and cons of Classical Decomposition</a:t>
            </a:r>
            <a:endParaRPr sz="2800">
              <a:solidFill>
                <a:schemeClr val="lt1"/>
              </a:solidFill>
              <a:latin typeface="Arial"/>
              <a:ea typeface="Arial"/>
              <a:cs typeface="Arial"/>
              <a:sym typeface="Arial"/>
            </a:endParaRPr>
          </a:p>
          <a:p>
            <a:pPr indent="0" lvl="0" marL="0" rtl="0" algn="l">
              <a:spcBef>
                <a:spcPts val="0"/>
              </a:spcBef>
              <a:spcAft>
                <a:spcPts val="0"/>
              </a:spcAft>
              <a:buNone/>
            </a:pPr>
            <a:r>
              <a:t/>
            </a:r>
            <a:endParaRPr>
              <a:solidFill>
                <a:schemeClr val="lt1"/>
              </a:solidFill>
            </a:endParaRPr>
          </a:p>
        </p:txBody>
      </p:sp>
      <p:sp>
        <p:nvSpPr>
          <p:cNvPr id="283" name="Google Shape;283;p32"/>
          <p:cNvSpPr txBox="1"/>
          <p:nvPr/>
        </p:nvSpPr>
        <p:spPr>
          <a:xfrm>
            <a:off x="4572000" y="1090625"/>
            <a:ext cx="4302000" cy="360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sz="1900"/>
              <a:t>Classical Decomposition — Cons</a:t>
            </a:r>
            <a:endParaRPr b="1" sz="1900"/>
          </a:p>
          <a:p>
            <a:pPr indent="-311150" lvl="0" marL="457200" rtl="0" algn="l">
              <a:lnSpc>
                <a:spcPct val="115000"/>
              </a:lnSpc>
              <a:spcBef>
                <a:spcPts val="1200"/>
              </a:spcBef>
              <a:spcAft>
                <a:spcPts val="0"/>
              </a:spcAft>
              <a:buSzPts val="1300"/>
              <a:buChar char="●"/>
            </a:pPr>
            <a:r>
              <a:rPr lang="en" sz="1300"/>
              <a:t>Assumes seasonality does not change over time</a:t>
            </a:r>
            <a:br>
              <a:rPr lang="en" sz="1300"/>
            </a:br>
            <a:endParaRPr sz="1300"/>
          </a:p>
          <a:p>
            <a:pPr indent="-311150" lvl="0" marL="457200" rtl="0" algn="l">
              <a:lnSpc>
                <a:spcPct val="115000"/>
              </a:lnSpc>
              <a:spcBef>
                <a:spcPts val="0"/>
              </a:spcBef>
              <a:spcAft>
                <a:spcPts val="0"/>
              </a:spcAft>
              <a:buSzPts val="1300"/>
              <a:buChar char="●"/>
            </a:pPr>
            <a:r>
              <a:rPr lang="en" sz="1300"/>
              <a:t>Trend is forced to be smooth, even if reality isn’t</a:t>
            </a:r>
            <a:br>
              <a:rPr lang="en" sz="1300"/>
            </a:br>
            <a:endParaRPr sz="1300"/>
          </a:p>
          <a:p>
            <a:pPr indent="-311150" lvl="0" marL="457200" rtl="0" algn="l">
              <a:lnSpc>
                <a:spcPct val="115000"/>
              </a:lnSpc>
              <a:spcBef>
                <a:spcPts val="0"/>
              </a:spcBef>
              <a:spcAft>
                <a:spcPts val="0"/>
              </a:spcAft>
              <a:buSzPts val="1300"/>
              <a:buChar char="●"/>
            </a:pPr>
            <a:r>
              <a:rPr lang="en" sz="1300"/>
              <a:t>Edge values are lost due to moving averages</a:t>
            </a:r>
            <a:br>
              <a:rPr lang="en" sz="1300"/>
            </a:br>
            <a:endParaRPr sz="1300"/>
          </a:p>
          <a:p>
            <a:pPr indent="-311150" lvl="0" marL="457200" rtl="0" algn="l">
              <a:lnSpc>
                <a:spcPct val="115000"/>
              </a:lnSpc>
              <a:spcBef>
                <a:spcPts val="0"/>
              </a:spcBef>
              <a:spcAft>
                <a:spcPts val="0"/>
              </a:spcAft>
              <a:buSzPts val="1300"/>
              <a:buChar char="●"/>
            </a:pPr>
            <a:r>
              <a:rPr lang="en" sz="1300"/>
              <a:t>Sensitive to outliers</a:t>
            </a:r>
            <a:br>
              <a:rPr lang="en" sz="1300"/>
            </a:br>
            <a:endParaRPr sz="1300"/>
          </a:p>
          <a:p>
            <a:pPr indent="-311150" lvl="0" marL="457200" rtl="0" algn="l">
              <a:lnSpc>
                <a:spcPct val="115000"/>
              </a:lnSpc>
              <a:spcBef>
                <a:spcPts val="0"/>
              </a:spcBef>
              <a:spcAft>
                <a:spcPts val="0"/>
              </a:spcAft>
              <a:buSzPts val="1300"/>
              <a:buChar char="●"/>
            </a:pPr>
            <a:r>
              <a:rPr lang="en" sz="1300"/>
              <a:t>Not a forecasting model by itself</a:t>
            </a:r>
            <a:br>
              <a:rPr lang="en" sz="1300"/>
            </a:br>
            <a:endParaRPr sz="1300"/>
          </a:p>
          <a:p>
            <a:pPr indent="-311150" lvl="0" marL="457200" rtl="0" algn="l">
              <a:lnSpc>
                <a:spcPct val="115000"/>
              </a:lnSpc>
              <a:spcBef>
                <a:spcPts val="0"/>
              </a:spcBef>
              <a:spcAft>
                <a:spcPts val="0"/>
              </a:spcAft>
              <a:buSzPts val="1300"/>
              <a:buChar char="●"/>
            </a:pPr>
            <a:r>
              <a:rPr lang="en" sz="1300"/>
              <a:t>Can give a false sense of structure if data is mostly noise</a:t>
            </a:r>
            <a:endParaRPr sz="1300"/>
          </a:p>
          <a:p>
            <a:pPr indent="0" lvl="0" marL="0" rtl="0" algn="l">
              <a:lnSpc>
                <a:spcPct val="115000"/>
              </a:lnSpc>
              <a:spcBef>
                <a:spcPts val="1400"/>
              </a:spcBef>
              <a:spcAft>
                <a:spcPts val="0"/>
              </a:spcAft>
              <a:buNone/>
            </a:pPr>
            <a:r>
              <a:t/>
            </a:r>
            <a:endParaRPr b="1" sz="1700"/>
          </a:p>
          <a:p>
            <a:pPr indent="0" lvl="0" marL="0" rtl="0" algn="l">
              <a:lnSpc>
                <a:spcPct val="115000"/>
              </a:lnSpc>
              <a:spcBef>
                <a:spcPts val="400"/>
              </a:spcBef>
              <a:spcAft>
                <a:spcPts val="0"/>
              </a:spcAft>
              <a:buNone/>
            </a:pPr>
            <a:r>
              <a:t/>
            </a:r>
            <a:endParaRPr sz="1900"/>
          </a:p>
          <a:p>
            <a:pPr indent="0" lvl="0" marL="457200" rtl="0" algn="l">
              <a:lnSpc>
                <a:spcPct val="115000"/>
              </a:lnSpc>
              <a:spcBef>
                <a:spcPts val="0"/>
              </a:spcBef>
              <a:spcAft>
                <a:spcPts val="0"/>
              </a:spcAft>
              <a:buNone/>
            </a:pPr>
            <a:r>
              <a:t/>
            </a:r>
            <a:endParaRPr b="1" sz="1500"/>
          </a:p>
          <a:p>
            <a:pPr indent="0" lvl="0" marL="457200" rtl="0" algn="l">
              <a:lnSpc>
                <a:spcPct val="115000"/>
              </a:lnSpc>
              <a:spcBef>
                <a:spcPts val="0"/>
              </a:spcBef>
              <a:spcAft>
                <a:spcPts val="0"/>
              </a:spcAft>
              <a:buNone/>
            </a:pPr>
            <a:r>
              <a:t/>
            </a:r>
            <a:endParaRPr sz="1700">
              <a:solidFill>
                <a:srgbClr val="475569"/>
              </a:solidFill>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284" name="Google Shape;284;p3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3"/>
          <p:cNvSpPr txBox="1"/>
          <p:nvPr>
            <p:ph type="title"/>
          </p:nvPr>
        </p:nvSpPr>
        <p:spPr>
          <a:xfrm>
            <a:off x="729450" y="1483900"/>
            <a:ext cx="7688700" cy="44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290" name="Google Shape;290;p33"/>
          <p:cNvSpPr txBox="1"/>
          <p:nvPr>
            <p:ph idx="1" type="body"/>
          </p:nvPr>
        </p:nvSpPr>
        <p:spPr>
          <a:xfrm>
            <a:off x="879400" y="2064800"/>
            <a:ext cx="7538700" cy="2402700"/>
          </a:xfrm>
          <a:prstGeom prst="rect">
            <a:avLst/>
          </a:prstGeom>
        </p:spPr>
        <p:txBody>
          <a:bodyPr anchorCtr="0" anchor="t" bIns="91425" lIns="91425" spcFirstLastPara="1" rIns="91425" wrap="square" tIns="91425">
            <a:normAutofit fontScale="40000" lnSpcReduction="10000"/>
          </a:bodyPr>
          <a:lstStyle/>
          <a:p>
            <a:pPr indent="0" lvl="0" marL="0" rtl="0" algn="l">
              <a:spcBef>
                <a:spcPts val="1200"/>
              </a:spcBef>
              <a:spcAft>
                <a:spcPts val="0"/>
              </a:spcAft>
              <a:buNone/>
            </a:pPr>
            <a:r>
              <a:rPr b="1" lang="en" sz="2750">
                <a:solidFill>
                  <a:srgbClr val="000000"/>
                </a:solidFill>
              </a:rPr>
              <a:t>Evolution of Time Series Decomposition</a:t>
            </a:r>
            <a:endParaRPr b="1" sz="2750">
              <a:solidFill>
                <a:srgbClr val="000000"/>
              </a:solidFill>
            </a:endParaRPr>
          </a:p>
          <a:p>
            <a:pPr indent="-298450" lvl="0" marL="457200" rtl="0" algn="l">
              <a:lnSpc>
                <a:spcPct val="150000"/>
              </a:lnSpc>
              <a:spcBef>
                <a:spcPts val="1200"/>
              </a:spcBef>
              <a:spcAft>
                <a:spcPts val="0"/>
              </a:spcAft>
              <a:buClr>
                <a:srgbClr val="000000"/>
              </a:buClr>
              <a:buSzPct val="100000"/>
              <a:buFont typeface="Arial"/>
              <a:buChar char="●"/>
            </a:pPr>
            <a:r>
              <a:rPr b="1" lang="en" sz="2750">
                <a:solidFill>
                  <a:srgbClr val="000000"/>
                </a:solidFill>
              </a:rPr>
              <a:t>1920s: </a:t>
            </a:r>
            <a:r>
              <a:rPr lang="en" sz="2750">
                <a:solidFill>
                  <a:srgbClr val="000000"/>
                </a:solidFill>
              </a:rPr>
              <a:t>Development Time Series using </a:t>
            </a:r>
            <a:r>
              <a:rPr b="1" lang="en" sz="2750">
                <a:solidFill>
                  <a:srgbClr val="000000"/>
                </a:solidFill>
              </a:rPr>
              <a:t>Classical Decomposition</a:t>
            </a:r>
            <a:r>
              <a:rPr lang="en" sz="2750">
                <a:solidFill>
                  <a:srgbClr val="000000"/>
                </a:solidFill>
              </a:rPr>
              <a:t> methods.</a:t>
            </a:r>
            <a:endParaRPr sz="2750">
              <a:solidFill>
                <a:srgbClr val="000000"/>
              </a:solidFill>
            </a:endParaRPr>
          </a:p>
          <a:p>
            <a:pPr indent="-298450" lvl="0" marL="457200" rtl="0" algn="l">
              <a:lnSpc>
                <a:spcPct val="150000"/>
              </a:lnSpc>
              <a:spcBef>
                <a:spcPts val="0"/>
              </a:spcBef>
              <a:spcAft>
                <a:spcPts val="0"/>
              </a:spcAft>
              <a:buClr>
                <a:srgbClr val="000000"/>
              </a:buClr>
              <a:buSzPct val="100000"/>
              <a:buFont typeface="Arial"/>
              <a:buChar char="●"/>
            </a:pPr>
            <a:r>
              <a:rPr b="1" lang="en" sz="2750">
                <a:solidFill>
                  <a:srgbClr val="000000"/>
                </a:solidFill>
              </a:rPr>
              <a:t>1950s: </a:t>
            </a:r>
            <a:r>
              <a:rPr lang="en" sz="2750">
                <a:solidFill>
                  <a:srgbClr val="000000"/>
                </a:solidFill>
              </a:rPr>
              <a:t>The </a:t>
            </a:r>
            <a:r>
              <a:rPr b="1" lang="en" sz="2750">
                <a:solidFill>
                  <a:srgbClr val="000000"/>
                </a:solidFill>
              </a:rPr>
              <a:t>US Census Bureau</a:t>
            </a:r>
            <a:r>
              <a:rPr lang="en" sz="2750">
                <a:solidFill>
                  <a:srgbClr val="000000"/>
                </a:solidFill>
              </a:rPr>
              <a:t> created the more robust "Census II" approach.</a:t>
            </a:r>
            <a:endParaRPr sz="2750">
              <a:solidFill>
                <a:srgbClr val="000000"/>
              </a:solidFill>
            </a:endParaRPr>
          </a:p>
          <a:p>
            <a:pPr indent="-298450" lvl="0" marL="457200" rtl="0" algn="l">
              <a:lnSpc>
                <a:spcPct val="150000"/>
              </a:lnSpc>
              <a:spcBef>
                <a:spcPts val="0"/>
              </a:spcBef>
              <a:spcAft>
                <a:spcPts val="0"/>
              </a:spcAft>
              <a:buClr>
                <a:srgbClr val="000000"/>
              </a:buClr>
              <a:buSzPct val="100000"/>
              <a:buFont typeface="Arial"/>
              <a:buChar char="●"/>
            </a:pPr>
            <a:r>
              <a:rPr lang="en" sz="2750">
                <a:solidFill>
                  <a:srgbClr val="000000"/>
                </a:solidFill>
              </a:rPr>
              <a:t>This formed the foundation for the famous </a:t>
            </a:r>
            <a:r>
              <a:rPr b="1" lang="en" sz="2750">
                <a:solidFill>
                  <a:srgbClr val="000000"/>
                </a:solidFill>
              </a:rPr>
              <a:t>X-11</a:t>
            </a:r>
            <a:r>
              <a:rPr lang="en" sz="2750">
                <a:solidFill>
                  <a:srgbClr val="000000"/>
                </a:solidFill>
              </a:rPr>
              <a:t> method and its successors (</a:t>
            </a:r>
            <a:r>
              <a:rPr b="1" lang="en" sz="2750">
                <a:solidFill>
                  <a:srgbClr val="000000"/>
                </a:solidFill>
              </a:rPr>
              <a:t>X-12-ARIMA</a:t>
            </a:r>
            <a:r>
              <a:rPr lang="en" sz="2750">
                <a:solidFill>
                  <a:srgbClr val="000000"/>
                </a:solidFill>
              </a:rPr>
              <a:t> and </a:t>
            </a:r>
            <a:r>
              <a:rPr b="1" lang="en" sz="2750">
                <a:solidFill>
                  <a:srgbClr val="000000"/>
                </a:solidFill>
              </a:rPr>
              <a:t>X-13-ARIMA</a:t>
            </a:r>
            <a:r>
              <a:rPr lang="en" sz="2750">
                <a:solidFill>
                  <a:srgbClr val="000000"/>
                </a:solidFill>
              </a:rPr>
              <a:t>).</a:t>
            </a:r>
            <a:endParaRPr sz="2750">
              <a:solidFill>
                <a:srgbClr val="000000"/>
              </a:solidFill>
            </a:endParaRPr>
          </a:p>
          <a:p>
            <a:pPr indent="-298450" lvl="0" marL="457200" rtl="0" algn="l">
              <a:lnSpc>
                <a:spcPct val="150000"/>
              </a:lnSpc>
              <a:spcBef>
                <a:spcPts val="0"/>
              </a:spcBef>
              <a:spcAft>
                <a:spcPts val="0"/>
              </a:spcAft>
              <a:buClr>
                <a:srgbClr val="000000"/>
              </a:buClr>
              <a:buSzPct val="100000"/>
              <a:buFont typeface="Arial"/>
              <a:buChar char="●"/>
            </a:pPr>
            <a:r>
              <a:rPr b="1" lang="en" sz="2750">
                <a:solidFill>
                  <a:srgbClr val="000000"/>
                </a:solidFill>
              </a:rPr>
              <a:t>1990s: </a:t>
            </a:r>
            <a:r>
              <a:rPr lang="en" sz="2750">
                <a:solidFill>
                  <a:srgbClr val="000000"/>
                </a:solidFill>
              </a:rPr>
              <a:t>The </a:t>
            </a:r>
            <a:r>
              <a:rPr b="1" lang="en" sz="2750">
                <a:solidFill>
                  <a:srgbClr val="000000"/>
                </a:solidFill>
              </a:rPr>
              <a:t>TRAMO/SEATS</a:t>
            </a:r>
            <a:r>
              <a:rPr lang="en" sz="2750">
                <a:solidFill>
                  <a:srgbClr val="000000"/>
                </a:solidFill>
              </a:rPr>
              <a:t> method was developed in Europe, offering a model-based alternative for seasonal adjustment.</a:t>
            </a:r>
            <a:endParaRPr sz="2750">
              <a:solidFill>
                <a:srgbClr val="000000"/>
              </a:solidFill>
            </a:endParaRPr>
          </a:p>
          <a:p>
            <a:pPr indent="-298450" lvl="0" marL="457200" rtl="0" algn="l">
              <a:lnSpc>
                <a:spcPct val="150000"/>
              </a:lnSpc>
              <a:spcBef>
                <a:spcPts val="0"/>
              </a:spcBef>
              <a:spcAft>
                <a:spcPts val="0"/>
              </a:spcAft>
              <a:buClr>
                <a:srgbClr val="000000"/>
              </a:buClr>
              <a:buSzPct val="100000"/>
              <a:buFont typeface="Arial"/>
              <a:buChar char="●"/>
            </a:pPr>
            <a:r>
              <a:rPr b="1" lang="en" sz="2750">
                <a:solidFill>
                  <a:srgbClr val="000000"/>
                </a:solidFill>
              </a:rPr>
              <a:t>STL Method: STL</a:t>
            </a:r>
            <a:r>
              <a:rPr lang="en" sz="2750">
                <a:solidFill>
                  <a:srgbClr val="000000"/>
                </a:solidFill>
              </a:rPr>
              <a:t> (Seasonal and Trend decomposition using Loess) was designed by Bell Labs.</a:t>
            </a:r>
            <a:endParaRPr sz="2750">
              <a:solidFill>
                <a:srgbClr val="000000"/>
              </a:solidFil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291" name="Google Shape;291;p3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2" name="Google Shape;292;p33"/>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4"/>
          <p:cNvSpPr txBox="1"/>
          <p:nvPr>
            <p:ph type="title"/>
          </p:nvPr>
        </p:nvSpPr>
        <p:spPr>
          <a:xfrm>
            <a:off x="729450" y="1483900"/>
            <a:ext cx="7688700" cy="44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298" name="Google Shape;298;p34"/>
          <p:cNvSpPr txBox="1"/>
          <p:nvPr>
            <p:ph idx="1" type="body"/>
          </p:nvPr>
        </p:nvSpPr>
        <p:spPr>
          <a:xfrm>
            <a:off x="849750" y="2064800"/>
            <a:ext cx="7568400" cy="2712900"/>
          </a:xfrm>
          <a:prstGeom prst="rect">
            <a:avLst/>
          </a:prstGeom>
        </p:spPr>
        <p:txBody>
          <a:bodyPr anchorCtr="0" anchor="t" bIns="91425" lIns="91425" spcFirstLastPara="1" rIns="91425" wrap="square" tIns="91425">
            <a:normAutofit fontScale="25000" lnSpcReduction="20000"/>
          </a:bodyPr>
          <a:lstStyle/>
          <a:p>
            <a:pPr indent="0" lvl="0" marL="0" rtl="0" algn="l">
              <a:lnSpc>
                <a:spcPct val="200000"/>
              </a:lnSpc>
              <a:spcBef>
                <a:spcPts val="1800"/>
              </a:spcBef>
              <a:spcAft>
                <a:spcPts val="0"/>
              </a:spcAft>
              <a:buNone/>
            </a:pPr>
            <a:r>
              <a:rPr b="1" lang="en" sz="4800">
                <a:solidFill>
                  <a:srgbClr val="000000"/>
                </a:solidFill>
              </a:rPr>
              <a:t>X-11 Decomposition: Key Features</a:t>
            </a:r>
            <a:endParaRPr b="1" sz="4800">
              <a:solidFill>
                <a:srgbClr val="000000"/>
              </a:solidFill>
            </a:endParaRPr>
          </a:p>
          <a:p>
            <a:pPr indent="-298450" lvl="0" marL="457200" rtl="0" algn="l">
              <a:lnSpc>
                <a:spcPct val="200000"/>
              </a:lnSpc>
              <a:spcBef>
                <a:spcPts val="1200"/>
              </a:spcBef>
              <a:spcAft>
                <a:spcPts val="0"/>
              </a:spcAft>
              <a:buClr>
                <a:srgbClr val="000000"/>
              </a:buClr>
              <a:buSzPct val="100000"/>
              <a:buFont typeface="Arial"/>
              <a:buChar char="●"/>
            </a:pPr>
            <a:r>
              <a:rPr b="1" lang="en" sz="4400">
                <a:solidFill>
                  <a:srgbClr val="000000"/>
                </a:solidFill>
              </a:rPr>
              <a:t>Algorithmic Iteration:</a:t>
            </a:r>
            <a:r>
              <a:rPr lang="en" sz="4400">
                <a:solidFill>
                  <a:srgbClr val="000000"/>
                </a:solidFill>
              </a:rPr>
              <a:t> Uses a multi-step process rather than a single formula to refine components.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Advanced Moving Averages:</a:t>
            </a:r>
            <a:r>
              <a:rPr lang="en" sz="4400">
                <a:solidFill>
                  <a:srgbClr val="000000"/>
                </a:solidFill>
              </a:rPr>
              <a:t> Employs sophisticated filters for smoother trend-cycle and seasonal isolation.</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Evolving Seasonality:</a:t>
            </a:r>
            <a:r>
              <a:rPr lang="en" sz="4400">
                <a:solidFill>
                  <a:srgbClr val="000000"/>
                </a:solidFill>
              </a:rPr>
              <a:t> Allows seasonal patterns to change over time, unlike rigid classical methods.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Outlier Robustness:</a:t>
            </a:r>
            <a:r>
              <a:rPr lang="en" sz="4400">
                <a:solidFill>
                  <a:srgbClr val="000000"/>
                </a:solidFill>
              </a:rPr>
              <a:t> Automatically identifies and adjusts for extreme values and trading day effects.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Flexible Framework:</a:t>
            </a:r>
            <a:r>
              <a:rPr lang="en" sz="4400">
                <a:solidFill>
                  <a:srgbClr val="000000"/>
                </a:solidFill>
              </a:rPr>
              <a:t> Handles both additive and multiplicative data; easily implemented via the </a:t>
            </a:r>
            <a:r>
              <a:rPr lang="en" sz="4400">
                <a:solidFill>
                  <a:srgbClr val="188038"/>
                </a:solidFill>
              </a:rPr>
              <a:t>X11()</a:t>
            </a:r>
            <a:r>
              <a:rPr lang="en" sz="4400">
                <a:solidFill>
                  <a:srgbClr val="000000"/>
                </a:solidFill>
              </a:rPr>
              <a:t> function in </a:t>
            </a:r>
            <a:r>
              <a:rPr lang="en" sz="4400">
                <a:solidFill>
                  <a:srgbClr val="188038"/>
                </a:solidFill>
              </a:rPr>
              <a:t>fable</a:t>
            </a:r>
            <a:r>
              <a:rPr lang="en" sz="4400">
                <a:solidFill>
                  <a:srgbClr val="000000"/>
                </a:solidFill>
              </a:rPr>
              <a:t>.</a:t>
            </a:r>
            <a:endParaRPr sz="4400">
              <a:solidFill>
                <a:srgbClr val="000000"/>
              </a:solidFill>
            </a:endParaRPr>
          </a:p>
          <a:p>
            <a:pPr indent="0" lvl="0" marL="0" rtl="0" algn="l">
              <a:lnSpc>
                <a:spcPct val="200000"/>
              </a:lnSpc>
              <a:spcBef>
                <a:spcPts val="1200"/>
              </a:spcBef>
              <a:spcAft>
                <a:spcPts val="0"/>
              </a:spcAft>
              <a:buNone/>
            </a:pPr>
            <a:r>
              <a:t/>
            </a:r>
            <a:endParaRPr b="1" sz="4400">
              <a:solidFill>
                <a:srgbClr val="000000"/>
              </a:solidFill>
            </a:endParaRPr>
          </a:p>
          <a:p>
            <a:pPr indent="0" lvl="0" marL="457200" rtl="0" algn="l">
              <a:spcBef>
                <a:spcPts val="1200"/>
              </a:spcBef>
              <a:spcAft>
                <a:spcPts val="0"/>
              </a:spcAft>
              <a:buNone/>
            </a:pPr>
            <a:r>
              <a:t/>
            </a:r>
            <a:endParaRPr sz="1100">
              <a:solidFill>
                <a:srgbClr val="000000"/>
              </a:solidFill>
            </a:endParaRPr>
          </a:p>
          <a:p>
            <a:pPr indent="0" lvl="0" marL="0" rtl="0" algn="l">
              <a:lnSpc>
                <a:spcPct val="150000"/>
              </a:lnSpc>
              <a:spcBef>
                <a:spcPts val="1200"/>
              </a:spcBef>
              <a:spcAft>
                <a:spcPts val="0"/>
              </a:spcAft>
              <a:buNone/>
            </a:pPr>
            <a:r>
              <a:t/>
            </a:r>
            <a:endParaRPr sz="1400">
              <a:solidFill>
                <a:srgbClr val="000000"/>
              </a:solidFill>
              <a:latin typeface="Arial"/>
              <a:ea typeface="Arial"/>
              <a:cs typeface="Arial"/>
              <a:sym typeface="Aria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299" name="Google Shape;299;p3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0" name="Google Shape;300;p34"/>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5"/>
          <p:cNvSpPr txBox="1"/>
          <p:nvPr>
            <p:ph type="title"/>
          </p:nvPr>
        </p:nvSpPr>
        <p:spPr>
          <a:xfrm>
            <a:off x="729450" y="1483900"/>
            <a:ext cx="7688700" cy="44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306" name="Google Shape;306;p35"/>
          <p:cNvSpPr txBox="1"/>
          <p:nvPr>
            <p:ph idx="1" type="body"/>
          </p:nvPr>
        </p:nvSpPr>
        <p:spPr>
          <a:xfrm>
            <a:off x="966375" y="2064800"/>
            <a:ext cx="7451700" cy="2242200"/>
          </a:xfrm>
          <a:prstGeom prst="rect">
            <a:avLst/>
          </a:prstGeom>
        </p:spPr>
        <p:txBody>
          <a:bodyPr anchorCtr="0" anchor="t" bIns="91425" lIns="91425" spcFirstLastPara="1" rIns="91425" wrap="square" tIns="91425">
            <a:normAutofit fontScale="25000" lnSpcReduction="20000"/>
          </a:bodyPr>
          <a:lstStyle/>
          <a:p>
            <a:pPr indent="0" lvl="0" marL="0" rtl="0" algn="l">
              <a:lnSpc>
                <a:spcPct val="200000"/>
              </a:lnSpc>
              <a:spcBef>
                <a:spcPts val="1200"/>
              </a:spcBef>
              <a:spcAft>
                <a:spcPts val="0"/>
              </a:spcAft>
              <a:buNone/>
            </a:pPr>
            <a:r>
              <a:rPr b="1" lang="en" sz="4800">
                <a:solidFill>
                  <a:srgbClr val="000000"/>
                </a:solidFill>
              </a:rPr>
              <a:t>Disadvantages of X-11</a:t>
            </a:r>
            <a:endParaRPr b="1" sz="4800">
              <a:solidFill>
                <a:srgbClr val="000000"/>
              </a:solidFill>
            </a:endParaRPr>
          </a:p>
          <a:p>
            <a:pPr indent="-298450" lvl="0" marL="457200" rtl="0" algn="l">
              <a:lnSpc>
                <a:spcPct val="200000"/>
              </a:lnSpc>
              <a:spcBef>
                <a:spcPts val="1200"/>
              </a:spcBef>
              <a:spcAft>
                <a:spcPts val="0"/>
              </a:spcAft>
              <a:buClr>
                <a:srgbClr val="000000"/>
              </a:buClr>
              <a:buSzPct val="100000"/>
              <a:buFont typeface="Arial"/>
              <a:buChar char="●"/>
            </a:pPr>
            <a:r>
              <a:rPr b="1" lang="en" sz="4400">
                <a:solidFill>
                  <a:srgbClr val="000000"/>
                </a:solidFill>
              </a:rPr>
              <a:t>No Formal Statistical Model:</a:t>
            </a:r>
            <a:r>
              <a:rPr lang="en" sz="4400">
                <a:solidFill>
                  <a:srgbClr val="000000"/>
                </a:solidFill>
              </a:rPr>
              <a:t> Based on an empirical algorithm rather than a mathematical model.</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No Prediction Intervals:</a:t>
            </a:r>
            <a:r>
              <a:rPr lang="en" sz="4400">
                <a:solidFill>
                  <a:srgbClr val="000000"/>
                </a:solidFill>
              </a:rPr>
              <a:t> Does not provide measures of uncertainty for the components.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Restricted Frequency:</a:t>
            </a:r>
            <a:r>
              <a:rPr lang="en" sz="4400">
                <a:solidFill>
                  <a:srgbClr val="000000"/>
                </a:solidFill>
              </a:rPr>
              <a:t> Limited to monthly and quarterly data only.</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No Support for Covariates:</a:t>
            </a:r>
            <a:r>
              <a:rPr lang="en" sz="4400">
                <a:solidFill>
                  <a:srgbClr val="000000"/>
                </a:solidFill>
              </a:rPr>
              <a:t> Cannot incorporate external variables (e.g., weather or strikes).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Black Box Nature:</a:t>
            </a:r>
            <a:r>
              <a:rPr lang="en" sz="4400">
                <a:solidFill>
                  <a:srgbClr val="000000"/>
                </a:solidFill>
              </a:rPr>
              <a:t> The iterative steps can be difficult to trace mathematically compared to simpler methods.</a:t>
            </a:r>
            <a:endParaRPr sz="4400">
              <a:solidFill>
                <a:srgbClr val="000000"/>
              </a:solidFill>
            </a:endParaRPr>
          </a:p>
          <a:p>
            <a:pPr indent="0" lvl="0" marL="0" rtl="0" algn="l">
              <a:lnSpc>
                <a:spcPct val="200000"/>
              </a:lnSpc>
              <a:spcBef>
                <a:spcPts val="1200"/>
              </a:spcBef>
              <a:spcAft>
                <a:spcPts val="0"/>
              </a:spcAft>
              <a:buNone/>
            </a:pPr>
            <a:r>
              <a:t/>
            </a:r>
            <a:endParaRPr b="1" sz="4400">
              <a:solidFill>
                <a:srgbClr val="000000"/>
              </a:solidFill>
            </a:endParaRPr>
          </a:p>
          <a:p>
            <a:pPr indent="0" lvl="0" marL="457200" rtl="0" algn="l">
              <a:spcBef>
                <a:spcPts val="1200"/>
              </a:spcBef>
              <a:spcAft>
                <a:spcPts val="0"/>
              </a:spcAft>
              <a:buNone/>
            </a:pPr>
            <a:r>
              <a:t/>
            </a:r>
            <a:endParaRPr sz="1100">
              <a:solidFill>
                <a:srgbClr val="000000"/>
              </a:solidFill>
            </a:endParaRPr>
          </a:p>
          <a:p>
            <a:pPr indent="0" lvl="0" marL="0" rtl="0" algn="l">
              <a:lnSpc>
                <a:spcPct val="150000"/>
              </a:lnSpc>
              <a:spcBef>
                <a:spcPts val="1200"/>
              </a:spcBef>
              <a:spcAft>
                <a:spcPts val="0"/>
              </a:spcAft>
              <a:buNone/>
            </a:pPr>
            <a:r>
              <a:t/>
            </a:r>
            <a:endParaRPr sz="1400">
              <a:solidFill>
                <a:srgbClr val="000000"/>
              </a:solidFill>
              <a:latin typeface="Arial"/>
              <a:ea typeface="Arial"/>
              <a:cs typeface="Arial"/>
              <a:sym typeface="Aria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307" name="Google Shape;307;p3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08" name="Google Shape;308;p35"/>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6"/>
          <p:cNvSpPr txBox="1"/>
          <p:nvPr>
            <p:ph type="title"/>
          </p:nvPr>
        </p:nvSpPr>
        <p:spPr>
          <a:xfrm>
            <a:off x="729450" y="1373500"/>
            <a:ext cx="7688700" cy="416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314" name="Google Shape;314;p36"/>
          <p:cNvSpPr txBox="1"/>
          <p:nvPr>
            <p:ph idx="1" type="body"/>
          </p:nvPr>
        </p:nvSpPr>
        <p:spPr>
          <a:xfrm>
            <a:off x="879400" y="1932700"/>
            <a:ext cx="5288700" cy="309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Decomposition of Total US Retail Employment using X-11</a:t>
            </a:r>
            <a:endParaRPr b="1" sz="1100">
              <a:solidFill>
                <a:srgbClr val="000000"/>
              </a:solidFill>
              <a:latin typeface="Arial"/>
              <a:ea typeface="Arial"/>
              <a:cs typeface="Arial"/>
              <a:sym typeface="Arial"/>
            </a:endParaRPr>
          </a:p>
          <a:p>
            <a:pPr indent="0" lvl="0" marL="457200" rtl="0" algn="l">
              <a:lnSpc>
                <a:spcPct val="150000"/>
              </a:lnSpc>
              <a:spcBef>
                <a:spcPts val="1200"/>
              </a:spcBef>
              <a:spcAft>
                <a:spcPts val="0"/>
              </a:spcAft>
              <a:buNone/>
            </a:pPr>
            <a:r>
              <a:t/>
            </a:r>
            <a:endParaRPr sz="900">
              <a:solidFill>
                <a:srgbClr val="000000"/>
              </a:solidFil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315" name="Google Shape;315;p3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16" name="Google Shape;316;p36"/>
          <p:cNvPicPr preferRelativeResize="0"/>
          <p:nvPr/>
        </p:nvPicPr>
        <p:blipFill>
          <a:blip r:embed="rId3">
            <a:alphaModFix/>
          </a:blip>
          <a:stretch>
            <a:fillRect/>
          </a:stretch>
        </p:blipFill>
        <p:spPr>
          <a:xfrm>
            <a:off x="1008650" y="2453400"/>
            <a:ext cx="4826626" cy="2472775"/>
          </a:xfrm>
          <a:prstGeom prst="rect">
            <a:avLst/>
          </a:prstGeom>
          <a:noFill/>
          <a:ln>
            <a:noFill/>
          </a:ln>
        </p:spPr>
      </p:pic>
      <p:sp>
        <p:nvSpPr>
          <p:cNvPr id="317" name="Google Shape;317;p36"/>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7"/>
          <p:cNvSpPr txBox="1"/>
          <p:nvPr>
            <p:ph type="title"/>
          </p:nvPr>
        </p:nvSpPr>
        <p:spPr>
          <a:xfrm>
            <a:off x="729450" y="1483900"/>
            <a:ext cx="7688700" cy="44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323" name="Google Shape;323;p37"/>
          <p:cNvSpPr txBox="1"/>
          <p:nvPr>
            <p:ph idx="1" type="body"/>
          </p:nvPr>
        </p:nvSpPr>
        <p:spPr>
          <a:xfrm>
            <a:off x="879400" y="2064800"/>
            <a:ext cx="7538700" cy="2403600"/>
          </a:xfrm>
          <a:prstGeom prst="rect">
            <a:avLst/>
          </a:prstGeom>
        </p:spPr>
        <p:txBody>
          <a:bodyPr anchorCtr="0" anchor="t" bIns="91425" lIns="91425" spcFirstLastPara="1" rIns="91425" wrap="square" tIns="91425">
            <a:normAutofit fontScale="25000" lnSpcReduction="20000"/>
          </a:bodyPr>
          <a:lstStyle/>
          <a:p>
            <a:pPr indent="0" lvl="0" marL="0" rtl="0" algn="l">
              <a:lnSpc>
                <a:spcPct val="200000"/>
              </a:lnSpc>
              <a:spcBef>
                <a:spcPts val="1800"/>
              </a:spcBef>
              <a:spcAft>
                <a:spcPts val="0"/>
              </a:spcAft>
              <a:buNone/>
            </a:pPr>
            <a:r>
              <a:rPr b="1" lang="en" sz="4400">
                <a:solidFill>
                  <a:srgbClr val="000000"/>
                </a:solidFill>
              </a:rPr>
              <a:t>Advantages of SEATS Decomposition</a:t>
            </a:r>
            <a:endParaRPr b="1" sz="4400">
              <a:solidFill>
                <a:srgbClr val="000000"/>
              </a:solidFill>
            </a:endParaRPr>
          </a:p>
          <a:p>
            <a:pPr indent="-298450" lvl="0" marL="457200" rtl="0" algn="l">
              <a:lnSpc>
                <a:spcPct val="200000"/>
              </a:lnSpc>
              <a:spcBef>
                <a:spcPts val="1200"/>
              </a:spcBef>
              <a:spcAft>
                <a:spcPts val="0"/>
              </a:spcAft>
              <a:buClr>
                <a:srgbClr val="000000"/>
              </a:buClr>
              <a:buSzPct val="100000"/>
              <a:buFont typeface="Arial"/>
              <a:buChar char="●"/>
            </a:pPr>
            <a:r>
              <a:rPr b="1" lang="en" sz="4400">
                <a:solidFill>
                  <a:srgbClr val="000000"/>
                </a:solidFill>
              </a:rPr>
              <a:t>Model-Based Approach:</a:t>
            </a:r>
            <a:r>
              <a:rPr lang="en" sz="4400">
                <a:solidFill>
                  <a:srgbClr val="000000"/>
                </a:solidFill>
              </a:rPr>
              <a:t> Built on a formal statistical foundation (ARIMA models).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Statistical Rigor:</a:t>
            </a:r>
            <a:r>
              <a:rPr lang="en" sz="4400">
                <a:solidFill>
                  <a:srgbClr val="000000"/>
                </a:solidFill>
              </a:rPr>
              <a:t> Provides theoretically sound components with calculated uncertainties.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Prediction Intervals:</a:t>
            </a:r>
            <a:r>
              <a:rPr lang="en" sz="4400">
                <a:solidFill>
                  <a:srgbClr val="000000"/>
                </a:solidFill>
              </a:rPr>
              <a:t> Allows for the calculation of intervals for the trend and seasonal components.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Sophisticated Filtering:</a:t>
            </a:r>
            <a:r>
              <a:rPr lang="en" sz="4400">
                <a:solidFill>
                  <a:srgbClr val="000000"/>
                </a:solidFill>
              </a:rPr>
              <a:t> Uses the specific characteristics of the data to determine the best filters.</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Modern Standard:</a:t>
            </a:r>
            <a:r>
              <a:rPr lang="en" sz="4400">
                <a:solidFill>
                  <a:srgbClr val="000000"/>
                </a:solidFill>
              </a:rPr>
              <a:t> Works seamlessly within the X-13ARIMA-SEATS framework used by global agencies.</a:t>
            </a:r>
            <a:endParaRPr sz="4400">
              <a:solidFill>
                <a:srgbClr val="000000"/>
              </a:solidFill>
            </a:endParaRPr>
          </a:p>
          <a:p>
            <a:pPr indent="0" lvl="0" marL="457200" rtl="0" algn="l">
              <a:lnSpc>
                <a:spcPct val="200000"/>
              </a:lnSpc>
              <a:spcBef>
                <a:spcPts val="1200"/>
              </a:spcBef>
              <a:spcAft>
                <a:spcPts val="0"/>
              </a:spcAft>
              <a:buNone/>
            </a:pPr>
            <a:r>
              <a:t/>
            </a:r>
            <a:endParaRPr b="1" sz="4400">
              <a:solidFill>
                <a:srgbClr val="000000"/>
              </a:solidFill>
            </a:endParaRPr>
          </a:p>
          <a:p>
            <a:pPr indent="0" lvl="0" marL="457200" rtl="0" algn="l">
              <a:spcBef>
                <a:spcPts val="1200"/>
              </a:spcBef>
              <a:spcAft>
                <a:spcPts val="0"/>
              </a:spcAft>
              <a:buNone/>
            </a:pPr>
            <a:r>
              <a:t/>
            </a:r>
            <a:endParaRPr sz="1100">
              <a:solidFill>
                <a:srgbClr val="000000"/>
              </a:solidFill>
            </a:endParaRPr>
          </a:p>
          <a:p>
            <a:pPr indent="0" lvl="0" marL="0" rtl="0" algn="l">
              <a:lnSpc>
                <a:spcPct val="150000"/>
              </a:lnSpc>
              <a:spcBef>
                <a:spcPts val="1200"/>
              </a:spcBef>
              <a:spcAft>
                <a:spcPts val="0"/>
              </a:spcAft>
              <a:buNone/>
            </a:pPr>
            <a:r>
              <a:t/>
            </a:r>
            <a:endParaRPr sz="1400">
              <a:solidFill>
                <a:srgbClr val="000000"/>
              </a:solidFill>
              <a:latin typeface="Arial"/>
              <a:ea typeface="Arial"/>
              <a:cs typeface="Arial"/>
              <a:sym typeface="Aria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324" name="Google Shape;324;p3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37"/>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8"/>
          <p:cNvSpPr txBox="1"/>
          <p:nvPr>
            <p:ph type="title"/>
          </p:nvPr>
        </p:nvSpPr>
        <p:spPr>
          <a:xfrm>
            <a:off x="729450" y="1373550"/>
            <a:ext cx="7688700" cy="323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331" name="Google Shape;331;p38"/>
          <p:cNvSpPr txBox="1"/>
          <p:nvPr>
            <p:ph idx="1" type="body"/>
          </p:nvPr>
        </p:nvSpPr>
        <p:spPr>
          <a:xfrm>
            <a:off x="879400" y="1773625"/>
            <a:ext cx="7776000" cy="2815200"/>
          </a:xfrm>
          <a:prstGeom prst="rect">
            <a:avLst/>
          </a:prstGeom>
        </p:spPr>
        <p:txBody>
          <a:bodyPr anchorCtr="0" anchor="t" bIns="91425" lIns="91425" spcFirstLastPara="1" rIns="91425" wrap="square" tIns="91425">
            <a:normAutofit fontScale="25000" lnSpcReduction="20000"/>
          </a:bodyPr>
          <a:lstStyle/>
          <a:p>
            <a:pPr indent="0" lvl="0" marL="0" rtl="0" algn="l">
              <a:lnSpc>
                <a:spcPct val="200000"/>
              </a:lnSpc>
              <a:spcBef>
                <a:spcPts val="1400"/>
              </a:spcBef>
              <a:spcAft>
                <a:spcPts val="0"/>
              </a:spcAft>
              <a:buNone/>
            </a:pPr>
            <a:r>
              <a:rPr b="1" lang="en" sz="4400">
                <a:solidFill>
                  <a:srgbClr val="000000"/>
                </a:solidFill>
              </a:rPr>
              <a:t>Disadvantages of SEATS</a:t>
            </a:r>
            <a:endParaRPr b="1" sz="4400">
              <a:solidFill>
                <a:srgbClr val="000000"/>
              </a:solidFill>
            </a:endParaRPr>
          </a:p>
          <a:p>
            <a:pPr indent="-298450" lvl="0" marL="457200" rtl="0" algn="l">
              <a:lnSpc>
                <a:spcPct val="200000"/>
              </a:lnSpc>
              <a:spcBef>
                <a:spcPts val="1200"/>
              </a:spcBef>
              <a:spcAft>
                <a:spcPts val="0"/>
              </a:spcAft>
              <a:buClr>
                <a:srgbClr val="000000"/>
              </a:buClr>
              <a:buSzPct val="100000"/>
              <a:buFont typeface="Arial"/>
              <a:buChar char="●"/>
            </a:pPr>
            <a:r>
              <a:rPr b="1" lang="en" sz="4400">
                <a:solidFill>
                  <a:srgbClr val="000000"/>
                </a:solidFill>
              </a:rPr>
              <a:t>Complexity:</a:t>
            </a:r>
            <a:r>
              <a:rPr lang="en" sz="4400">
                <a:solidFill>
                  <a:srgbClr val="000000"/>
                </a:solidFill>
              </a:rPr>
              <a:t> Requires advanced knowledge of ARIMA models to interpret.</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Rigid Frequency:</a:t>
            </a:r>
            <a:r>
              <a:rPr lang="en" sz="4400">
                <a:solidFill>
                  <a:srgbClr val="000000"/>
                </a:solidFill>
              </a:rPr>
              <a:t> Limited strictly to </a:t>
            </a:r>
            <a:r>
              <a:rPr b="1" lang="en" sz="4400">
                <a:solidFill>
                  <a:srgbClr val="000000"/>
                </a:solidFill>
              </a:rPr>
              <a:t>monthly and quarterly</a:t>
            </a:r>
            <a:r>
              <a:rPr lang="en" sz="4400">
                <a:solidFill>
                  <a:srgbClr val="000000"/>
                </a:solidFill>
              </a:rPr>
              <a:t> data.</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Single Seasonality:</a:t>
            </a:r>
            <a:r>
              <a:rPr lang="en" sz="4400">
                <a:solidFill>
                  <a:srgbClr val="000000"/>
                </a:solidFill>
              </a:rPr>
              <a:t> Cannot handle multiple seasonal patterns (e.g., daily + weekly).</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Model Dependent:</a:t>
            </a:r>
            <a:r>
              <a:rPr lang="en" sz="4400">
                <a:solidFill>
                  <a:srgbClr val="000000"/>
                </a:solidFill>
              </a:rPr>
              <a:t> Decomposition quality relies entirely on the initial ARIMA model fit.</a:t>
            </a:r>
            <a:endParaRPr sz="4400">
              <a:solidFill>
                <a:srgbClr val="000000"/>
              </a:solidFill>
            </a:endParaRPr>
          </a:p>
          <a:p>
            <a:pPr indent="-298450" lvl="0" marL="457200" rtl="0" algn="l">
              <a:lnSpc>
                <a:spcPct val="200000"/>
              </a:lnSpc>
              <a:spcBef>
                <a:spcPts val="0"/>
              </a:spcBef>
              <a:spcAft>
                <a:spcPts val="0"/>
              </a:spcAft>
              <a:buClr>
                <a:srgbClr val="000000"/>
              </a:buClr>
              <a:buSzPct val="100000"/>
              <a:buFont typeface="Arial"/>
              <a:buChar char="●"/>
            </a:pPr>
            <a:r>
              <a:rPr b="1" lang="en" sz="4400">
                <a:solidFill>
                  <a:srgbClr val="000000"/>
                </a:solidFill>
              </a:rPr>
              <a:t>"Black Box" Feel:</a:t>
            </a:r>
            <a:r>
              <a:rPr lang="en" sz="4400">
                <a:solidFill>
                  <a:srgbClr val="000000"/>
                </a:solidFill>
              </a:rPr>
              <a:t> Harder to explain to non-technical audiences than simple averages.</a:t>
            </a:r>
            <a:endParaRPr b="1" sz="4400">
              <a:solidFill>
                <a:srgbClr val="000000"/>
              </a:solidFill>
            </a:endParaRPr>
          </a:p>
          <a:p>
            <a:pPr indent="0" lvl="0" marL="457200" rtl="0" algn="l">
              <a:lnSpc>
                <a:spcPct val="200000"/>
              </a:lnSpc>
              <a:spcBef>
                <a:spcPts val="1200"/>
              </a:spcBef>
              <a:spcAft>
                <a:spcPts val="0"/>
              </a:spcAft>
              <a:buNone/>
            </a:pPr>
            <a:r>
              <a:rPr lang="en" sz="4400">
                <a:solidFill>
                  <a:srgbClr val="000000"/>
                </a:solidFill>
              </a:rPr>
              <a:t> </a:t>
            </a:r>
            <a:endParaRPr sz="4400">
              <a:solidFill>
                <a:srgbClr val="000000"/>
              </a:solidFill>
            </a:endParaRPr>
          </a:p>
          <a:p>
            <a:pPr indent="0" lvl="0" marL="457200" rtl="0" algn="l">
              <a:lnSpc>
                <a:spcPct val="200000"/>
              </a:lnSpc>
              <a:spcBef>
                <a:spcPts val="1200"/>
              </a:spcBef>
              <a:spcAft>
                <a:spcPts val="0"/>
              </a:spcAft>
              <a:buNone/>
            </a:pPr>
            <a:r>
              <a:t/>
            </a:r>
            <a:endParaRPr sz="4400">
              <a:solidFill>
                <a:srgbClr val="000000"/>
              </a:solidFill>
            </a:endParaRPr>
          </a:p>
          <a:p>
            <a:pPr indent="0" lvl="0" marL="457200" rtl="0" algn="l">
              <a:spcBef>
                <a:spcPts val="1200"/>
              </a:spcBef>
              <a:spcAft>
                <a:spcPts val="0"/>
              </a:spcAft>
              <a:buNone/>
            </a:pPr>
            <a:r>
              <a:t/>
            </a:r>
            <a:endParaRPr sz="1100">
              <a:solidFill>
                <a:srgbClr val="000000"/>
              </a:solidFill>
            </a:endParaRPr>
          </a:p>
          <a:p>
            <a:pPr indent="0" lvl="0" marL="0" rtl="0" algn="l">
              <a:lnSpc>
                <a:spcPct val="150000"/>
              </a:lnSpc>
              <a:spcBef>
                <a:spcPts val="1200"/>
              </a:spcBef>
              <a:spcAft>
                <a:spcPts val="0"/>
              </a:spcAft>
              <a:buNone/>
            </a:pPr>
            <a:r>
              <a:t/>
            </a:r>
            <a:endParaRPr sz="1400">
              <a:solidFill>
                <a:srgbClr val="000000"/>
              </a:solidFill>
              <a:latin typeface="Arial"/>
              <a:ea typeface="Arial"/>
              <a:cs typeface="Arial"/>
              <a:sym typeface="Aria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332" name="Google Shape;332;p3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38"/>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9"/>
          <p:cNvSpPr txBox="1"/>
          <p:nvPr>
            <p:ph type="title"/>
          </p:nvPr>
        </p:nvSpPr>
        <p:spPr>
          <a:xfrm>
            <a:off x="729450" y="1483900"/>
            <a:ext cx="7688700" cy="44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t>Methodologies Used by Official Statistical Agencies</a:t>
            </a:r>
            <a:endParaRPr sz="1800"/>
          </a:p>
        </p:txBody>
      </p:sp>
      <p:sp>
        <p:nvSpPr>
          <p:cNvPr id="339" name="Google Shape;339;p39"/>
          <p:cNvSpPr txBox="1"/>
          <p:nvPr>
            <p:ph idx="1" type="body"/>
          </p:nvPr>
        </p:nvSpPr>
        <p:spPr>
          <a:xfrm>
            <a:off x="879400" y="1932700"/>
            <a:ext cx="5288700" cy="3094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Decomposition of Total US Retail Employment using </a:t>
            </a:r>
            <a:r>
              <a:rPr b="1" lang="en" sz="1100">
                <a:solidFill>
                  <a:srgbClr val="000000"/>
                </a:solidFill>
                <a:latin typeface="Arial"/>
                <a:ea typeface="Arial"/>
                <a:cs typeface="Arial"/>
                <a:sym typeface="Arial"/>
              </a:rPr>
              <a:t>SEATS</a:t>
            </a:r>
            <a:endParaRPr b="1" sz="1100">
              <a:solidFill>
                <a:srgbClr val="000000"/>
              </a:solidFill>
              <a:latin typeface="Arial"/>
              <a:ea typeface="Arial"/>
              <a:cs typeface="Arial"/>
              <a:sym typeface="Arial"/>
            </a:endParaRPr>
          </a:p>
          <a:p>
            <a:pPr indent="0" lvl="0" marL="457200" rtl="0" algn="l">
              <a:lnSpc>
                <a:spcPct val="150000"/>
              </a:lnSpc>
              <a:spcBef>
                <a:spcPts val="1200"/>
              </a:spcBef>
              <a:spcAft>
                <a:spcPts val="0"/>
              </a:spcAft>
              <a:buNone/>
            </a:pPr>
            <a:r>
              <a:t/>
            </a:r>
            <a:endParaRPr sz="900">
              <a:solidFill>
                <a:srgbClr val="000000"/>
              </a:solidFill>
            </a:endParaRPr>
          </a:p>
          <a:p>
            <a:pPr indent="0" lvl="0" marL="292100" rtl="0" algn="l">
              <a:spcBef>
                <a:spcPts val="1200"/>
              </a:spcBef>
              <a:spcAft>
                <a:spcPts val="0"/>
              </a:spcAft>
              <a:buNone/>
            </a:pPr>
            <a:r>
              <a:t/>
            </a:r>
            <a:endParaRPr b="1" sz="1100">
              <a:solidFill>
                <a:srgbClr val="000000"/>
              </a:solidFill>
            </a:endParaRPr>
          </a:p>
          <a:p>
            <a:pPr indent="0" lvl="0" marL="0" rtl="0" algn="l">
              <a:spcBef>
                <a:spcPts val="1200"/>
              </a:spcBef>
              <a:spcAft>
                <a:spcPts val="1200"/>
              </a:spcAft>
              <a:buNone/>
            </a:pPr>
            <a:r>
              <a:t/>
            </a:r>
            <a:endParaRPr b="1"/>
          </a:p>
        </p:txBody>
      </p:sp>
      <p:sp>
        <p:nvSpPr>
          <p:cNvPr id="340" name="Google Shape;340;p3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41" name="Google Shape;341;p39"/>
          <p:cNvPicPr preferRelativeResize="0"/>
          <p:nvPr/>
        </p:nvPicPr>
        <p:blipFill>
          <a:blip r:embed="rId3">
            <a:alphaModFix/>
          </a:blip>
          <a:stretch>
            <a:fillRect/>
          </a:stretch>
        </p:blipFill>
        <p:spPr>
          <a:xfrm>
            <a:off x="1014000" y="2374775"/>
            <a:ext cx="4831826" cy="2471849"/>
          </a:xfrm>
          <a:prstGeom prst="rect">
            <a:avLst/>
          </a:prstGeom>
          <a:noFill/>
          <a:ln>
            <a:noFill/>
          </a:ln>
        </p:spPr>
      </p:pic>
      <p:sp>
        <p:nvSpPr>
          <p:cNvPr id="342" name="Google Shape;342;p39"/>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id="347" name="Google Shape;347;p40"/>
          <p:cNvPicPr preferRelativeResize="0"/>
          <p:nvPr/>
        </p:nvPicPr>
        <p:blipFill>
          <a:blip r:embed="rId3">
            <a:alphaModFix/>
          </a:blip>
          <a:stretch>
            <a:fillRect/>
          </a:stretch>
        </p:blipFill>
        <p:spPr>
          <a:xfrm>
            <a:off x="5320474" y="2078875"/>
            <a:ext cx="3573901" cy="2370800"/>
          </a:xfrm>
          <a:prstGeom prst="rect">
            <a:avLst/>
          </a:prstGeom>
          <a:noFill/>
          <a:ln>
            <a:noFill/>
          </a:ln>
        </p:spPr>
      </p:pic>
      <p:sp>
        <p:nvSpPr>
          <p:cNvPr id="348" name="Google Shape;348;p40"/>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40"/>
              <a:t>Seasonal and Trend Decomposition Using Loess (STL)</a:t>
            </a:r>
            <a:endParaRPr sz="2240"/>
          </a:p>
        </p:txBody>
      </p:sp>
      <p:sp>
        <p:nvSpPr>
          <p:cNvPr id="349" name="Google Shape;349;p40"/>
          <p:cNvSpPr txBox="1"/>
          <p:nvPr>
            <p:ph idx="1" type="body"/>
          </p:nvPr>
        </p:nvSpPr>
        <p:spPr>
          <a:xfrm>
            <a:off x="653250" y="2078875"/>
            <a:ext cx="4268700" cy="2261100"/>
          </a:xfrm>
          <a:prstGeom prst="rect">
            <a:avLst/>
          </a:prstGeom>
        </p:spPr>
        <p:txBody>
          <a:bodyPr anchorCtr="0" anchor="t" bIns="91425" lIns="91425" spcFirstLastPara="1" rIns="91425" wrap="square" tIns="91425">
            <a:noAutofit/>
          </a:bodyPr>
          <a:lstStyle/>
          <a:p>
            <a:pPr indent="-247650" lvl="0" marL="400050" rtl="0" algn="l">
              <a:lnSpc>
                <a:spcPct val="105000"/>
              </a:lnSpc>
              <a:spcBef>
                <a:spcPts val="0"/>
              </a:spcBef>
              <a:spcAft>
                <a:spcPts val="0"/>
              </a:spcAft>
              <a:buSzPts val="1200"/>
              <a:buFont typeface="Lato"/>
              <a:buChar char="●"/>
            </a:pPr>
            <a:r>
              <a:rPr lang="en" sz="1200"/>
              <a:t>Versatile decomposition method</a:t>
            </a:r>
            <a:endParaRPr sz="1200"/>
          </a:p>
          <a:p>
            <a:pPr indent="-190500" lvl="1" marL="628650" rtl="0" algn="l">
              <a:lnSpc>
                <a:spcPct val="105000"/>
              </a:lnSpc>
              <a:spcBef>
                <a:spcPts val="300"/>
              </a:spcBef>
              <a:spcAft>
                <a:spcPts val="0"/>
              </a:spcAft>
              <a:buSzPts val="1200"/>
              <a:buFont typeface="Lato"/>
              <a:buChar char="○"/>
            </a:pPr>
            <a:r>
              <a:rPr lang="en" sz="1200"/>
              <a:t>Captures short- and long-term variations</a:t>
            </a:r>
            <a:endParaRPr sz="1200"/>
          </a:p>
          <a:p>
            <a:pPr indent="-190500" lvl="1" marL="628650" rtl="0" algn="l">
              <a:lnSpc>
                <a:spcPct val="105000"/>
              </a:lnSpc>
              <a:spcBef>
                <a:spcPts val="300"/>
              </a:spcBef>
              <a:spcAft>
                <a:spcPts val="0"/>
              </a:spcAft>
              <a:buSzPts val="1200"/>
              <a:buFont typeface="Lato"/>
              <a:buChar char="○"/>
            </a:pPr>
            <a:r>
              <a:rPr lang="en" sz="1200"/>
              <a:t>Handles complex patterns</a:t>
            </a:r>
            <a:endParaRPr sz="1200"/>
          </a:p>
          <a:p>
            <a:pPr indent="-247650" lvl="0" marL="400050" rtl="0" algn="l">
              <a:lnSpc>
                <a:spcPct val="105000"/>
              </a:lnSpc>
              <a:spcBef>
                <a:spcPts val="2000"/>
              </a:spcBef>
              <a:spcAft>
                <a:spcPts val="0"/>
              </a:spcAft>
              <a:buSzPts val="1200"/>
              <a:buFont typeface="Lato"/>
              <a:buChar char="●"/>
            </a:pPr>
            <a:r>
              <a:rPr lang="en" sz="1200"/>
              <a:t>Iteratively applies Loess</a:t>
            </a:r>
            <a:endParaRPr sz="1200"/>
          </a:p>
          <a:p>
            <a:pPr indent="-190500" lvl="1" marL="628650" rtl="0" algn="l">
              <a:lnSpc>
                <a:spcPct val="105000"/>
              </a:lnSpc>
              <a:spcBef>
                <a:spcPts val="300"/>
              </a:spcBef>
              <a:spcAft>
                <a:spcPts val="0"/>
              </a:spcAft>
              <a:buSzPts val="1200"/>
              <a:buFont typeface="Lato"/>
              <a:buChar char="○"/>
            </a:pPr>
            <a:r>
              <a:rPr lang="en" sz="1200"/>
              <a:t>Loess = Locally-Weighted Scatterplot Smoothing</a:t>
            </a:r>
            <a:endParaRPr sz="1200"/>
          </a:p>
          <a:p>
            <a:pPr indent="-190500" lvl="1" marL="628650" rtl="0" algn="l">
              <a:lnSpc>
                <a:spcPct val="105000"/>
              </a:lnSpc>
              <a:spcBef>
                <a:spcPts val="300"/>
              </a:spcBef>
              <a:spcAft>
                <a:spcPts val="1000"/>
              </a:spcAft>
              <a:buSzPts val="1200"/>
              <a:buFont typeface="Lato"/>
              <a:buChar char="○"/>
            </a:pPr>
            <a:r>
              <a:rPr lang="en" sz="1200"/>
              <a:t>Nonparametric regression method that fits curves to </a:t>
            </a:r>
            <a:r>
              <a:rPr lang="en" sz="1200">
                <a:solidFill>
                  <a:srgbClr val="0000FF"/>
                </a:solidFill>
              </a:rPr>
              <a:t>localized subsets of data</a:t>
            </a:r>
            <a:endParaRPr sz="1200">
              <a:solidFill>
                <a:srgbClr val="0000FF"/>
              </a:solidFill>
            </a:endParaRPr>
          </a:p>
        </p:txBody>
      </p:sp>
      <p:sp>
        <p:nvSpPr>
          <p:cNvPr id="350" name="Google Shape;350;p40"/>
          <p:cNvSpPr txBox="1"/>
          <p:nvPr/>
        </p:nvSpPr>
        <p:spPr>
          <a:xfrm>
            <a:off x="729450" y="4793599"/>
            <a:ext cx="4673700" cy="30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800">
                <a:solidFill>
                  <a:srgbClr val="999999"/>
                </a:solidFill>
                <a:latin typeface="Raleway"/>
                <a:ea typeface="Raleway"/>
                <a:cs typeface="Raleway"/>
                <a:sym typeface="Raleway"/>
              </a:rPr>
              <a:t>Image source: </a:t>
            </a:r>
            <a:r>
              <a:rPr lang="en" sz="800">
                <a:solidFill>
                  <a:srgbClr val="999999"/>
                </a:solidFill>
                <a:latin typeface="Raleway"/>
                <a:ea typeface="Raleway"/>
                <a:cs typeface="Raleway"/>
                <a:sym typeface="Raleway"/>
              </a:rPr>
              <a:t>Lowess and Loess, Clearly Explained!!! www.youtube.com/watch?v=Vf7oJ6z2LCc</a:t>
            </a:r>
            <a:endParaRPr sz="800">
              <a:solidFill>
                <a:srgbClr val="999999"/>
              </a:solidFill>
              <a:latin typeface="Raleway"/>
              <a:ea typeface="Raleway"/>
              <a:cs typeface="Raleway"/>
              <a:sym typeface="Raleway"/>
            </a:endParaRPr>
          </a:p>
        </p:txBody>
      </p:sp>
      <p:sp>
        <p:nvSpPr>
          <p:cNvPr id="351" name="Google Shape;351;p4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52" name="Google Shape;352;p40"/>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Advantages and Disadvantages of STL</a:t>
            </a:r>
            <a:endParaRPr/>
          </a:p>
        </p:txBody>
      </p:sp>
      <p:sp>
        <p:nvSpPr>
          <p:cNvPr id="358" name="Google Shape;358;p4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BF9000"/>
                </a:solidFill>
              </a:rPr>
              <a:t>Advantages</a:t>
            </a:r>
            <a:endParaRPr sz="1400">
              <a:solidFill>
                <a:srgbClr val="BF9000"/>
              </a:solidFill>
            </a:endParaRPr>
          </a:p>
          <a:p>
            <a:pPr indent="-247650" lvl="0" marL="314325" rtl="0" algn="l">
              <a:spcBef>
                <a:spcPts val="0"/>
              </a:spcBef>
              <a:spcAft>
                <a:spcPts val="0"/>
              </a:spcAft>
              <a:buSzPts val="1200"/>
              <a:buFont typeface="Lato"/>
              <a:buChar char="●"/>
            </a:pPr>
            <a:r>
              <a:rPr lang="en" sz="1200"/>
              <a:t>Handles any type of seasonality</a:t>
            </a:r>
            <a:endParaRPr sz="1200"/>
          </a:p>
          <a:p>
            <a:pPr indent="-247650" lvl="0" marL="314325" rtl="0" algn="l">
              <a:spcBef>
                <a:spcPts val="0"/>
              </a:spcBef>
              <a:spcAft>
                <a:spcPts val="0"/>
              </a:spcAft>
              <a:buSzPts val="1200"/>
              <a:buFont typeface="Lato"/>
              <a:buChar char="●"/>
            </a:pPr>
            <a:r>
              <a:rPr lang="en" sz="1200"/>
              <a:t>Highly</a:t>
            </a:r>
            <a:r>
              <a:rPr lang="en" sz="1200"/>
              <a:t> flexible (eg, user can define seasonal component, smoothness)</a:t>
            </a:r>
            <a:endParaRPr sz="1200"/>
          </a:p>
          <a:p>
            <a:pPr indent="-247650" lvl="0" marL="314325" rtl="0" algn="l">
              <a:spcBef>
                <a:spcPts val="0"/>
              </a:spcBef>
              <a:spcAft>
                <a:spcPts val="0"/>
              </a:spcAft>
              <a:buSzPts val="1200"/>
              <a:buFont typeface="Arial"/>
              <a:buChar char="●"/>
            </a:pPr>
            <a:r>
              <a:rPr lang="en" sz="1200"/>
              <a:t>Handles missing values</a:t>
            </a:r>
            <a:endParaRPr sz="1200"/>
          </a:p>
          <a:p>
            <a:pPr indent="-247650" lvl="0" marL="314325" rtl="0" algn="l">
              <a:spcBef>
                <a:spcPts val="0"/>
              </a:spcBef>
              <a:spcAft>
                <a:spcPts val="0"/>
              </a:spcAft>
              <a:buSzPts val="1200"/>
              <a:buFont typeface="Lato"/>
              <a:buChar char="●"/>
            </a:pPr>
            <a:r>
              <a:rPr lang="en" sz="1200"/>
              <a:t>Robust to outliers</a:t>
            </a:r>
            <a:endParaRPr sz="1200"/>
          </a:p>
          <a:p>
            <a:pPr indent="0" lvl="0" marL="0" rtl="0" algn="l">
              <a:spcBef>
                <a:spcPts val="1200"/>
              </a:spcBef>
              <a:spcAft>
                <a:spcPts val="0"/>
              </a:spcAft>
              <a:buNone/>
            </a:pPr>
            <a:r>
              <a:rPr lang="en" sz="1400">
                <a:solidFill>
                  <a:srgbClr val="BF9000"/>
                </a:solidFill>
              </a:rPr>
              <a:t>Disadvantages</a:t>
            </a:r>
            <a:endParaRPr sz="1400">
              <a:solidFill>
                <a:srgbClr val="BF9000"/>
              </a:solidFill>
            </a:endParaRPr>
          </a:p>
          <a:p>
            <a:pPr indent="-247650" lvl="0" marL="314325" rtl="0" algn="l">
              <a:spcBef>
                <a:spcPts val="0"/>
              </a:spcBef>
              <a:spcAft>
                <a:spcPts val="0"/>
              </a:spcAft>
              <a:buSzPts val="1200"/>
              <a:buFont typeface="Lato"/>
              <a:buChar char="●"/>
            </a:pPr>
            <a:r>
              <a:rPr lang="en" sz="1200"/>
              <a:t>Does not handle trading day or calendar variations</a:t>
            </a:r>
            <a:endParaRPr sz="1200"/>
          </a:p>
          <a:p>
            <a:pPr indent="-247650" lvl="0" marL="314325" rtl="0" algn="l">
              <a:spcBef>
                <a:spcPts val="0"/>
              </a:spcBef>
              <a:spcAft>
                <a:spcPts val="0"/>
              </a:spcAft>
              <a:buSzPts val="1200"/>
              <a:buFont typeface="Lato"/>
              <a:buChar char="●"/>
            </a:pPr>
            <a:r>
              <a:rPr lang="en" sz="1200"/>
              <a:t>Mainly additive decomposition</a:t>
            </a:r>
            <a:endParaRPr sz="1200"/>
          </a:p>
        </p:txBody>
      </p:sp>
      <p:sp>
        <p:nvSpPr>
          <p:cNvPr id="359" name="Google Shape;359;p4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41"/>
          <p:cNvSpPr txBox="1"/>
          <p:nvPr/>
        </p:nvSpPr>
        <p:spPr>
          <a:xfrm>
            <a:off x="729450" y="4710524"/>
            <a:ext cx="4673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rgbClr val="999999"/>
              </a:solidFill>
              <a:latin typeface="Raleway"/>
              <a:ea typeface="Raleway"/>
              <a:cs typeface="Raleway"/>
              <a:sym typeface="Raleway"/>
            </a:endParaRPr>
          </a:p>
        </p:txBody>
      </p:sp>
      <p:sp>
        <p:nvSpPr>
          <p:cNvPr id="361" name="Google Shape;361;p41"/>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STL Example</a:t>
            </a:r>
            <a:endParaRPr/>
          </a:p>
        </p:txBody>
      </p:sp>
      <p:sp>
        <p:nvSpPr>
          <p:cNvPr id="367" name="Google Shape;367;p42"/>
          <p:cNvSpPr txBox="1"/>
          <p:nvPr>
            <p:ph idx="1" type="body"/>
          </p:nvPr>
        </p:nvSpPr>
        <p:spPr>
          <a:xfrm>
            <a:off x="729450" y="1774075"/>
            <a:ext cx="3345000" cy="1609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000">
                <a:solidFill>
                  <a:srgbClr val="262626"/>
                </a:solidFill>
                <a:latin typeface="Courier New"/>
                <a:ea typeface="Courier New"/>
                <a:cs typeface="Courier New"/>
                <a:sym typeface="Courier New"/>
              </a:rPr>
              <a:t>us_retail_employment </a:t>
            </a:r>
            <a:r>
              <a:rPr lang="en" sz="1000">
                <a:solidFill>
                  <a:srgbClr val="C14705"/>
                </a:solidFill>
                <a:latin typeface="Courier New"/>
                <a:ea typeface="Courier New"/>
                <a:cs typeface="Courier New"/>
                <a:sym typeface="Courier New"/>
              </a:rPr>
              <a:t>|&gt;</a:t>
            </a:r>
            <a:endParaRPr sz="1000">
              <a:solidFill>
                <a:srgbClr val="C14705"/>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193774"/>
                </a:solidFill>
                <a:latin typeface="Courier New"/>
                <a:ea typeface="Courier New"/>
                <a:cs typeface="Courier New"/>
                <a:sym typeface="Courier New"/>
              </a:rPr>
              <a:t>  model</a:t>
            </a:r>
            <a:r>
              <a:rPr lang="en" sz="1000">
                <a:solidFill>
                  <a:srgbClr val="262626"/>
                </a:solidFill>
                <a:latin typeface="Courier New"/>
                <a:ea typeface="Courier New"/>
                <a:cs typeface="Courier New"/>
                <a:sym typeface="Courier New"/>
              </a:rPr>
              <a:t>(</a:t>
            </a:r>
            <a:r>
              <a:rPr lang="en" sz="1000">
                <a:solidFill>
                  <a:srgbClr val="193774"/>
                </a:solidFill>
                <a:latin typeface="Courier New"/>
                <a:ea typeface="Courier New"/>
                <a:cs typeface="Courier New"/>
                <a:sym typeface="Courier New"/>
              </a:rPr>
              <a:t>STL</a:t>
            </a:r>
            <a:r>
              <a:rPr lang="en" sz="1000">
                <a:solidFill>
                  <a:srgbClr val="262626"/>
                </a:solidFill>
                <a:latin typeface="Courier New"/>
                <a:ea typeface="Courier New"/>
                <a:cs typeface="Courier New"/>
                <a:sym typeface="Courier New"/>
              </a:rPr>
              <a:t>(Employed </a:t>
            </a:r>
            <a:r>
              <a:rPr lang="en" sz="1000">
                <a:solidFill>
                  <a:srgbClr val="C14705"/>
                </a:solidFill>
                <a:latin typeface="Courier New"/>
                <a:ea typeface="Courier New"/>
                <a:cs typeface="Courier New"/>
                <a:sym typeface="Courier New"/>
              </a:rPr>
              <a:t>~</a:t>
            </a:r>
            <a:r>
              <a:rPr lang="en" sz="1000">
                <a:solidFill>
                  <a:srgbClr val="262626"/>
                </a:solidFill>
                <a:latin typeface="Courier New"/>
                <a:ea typeface="Courier New"/>
                <a:cs typeface="Courier New"/>
                <a:sym typeface="Courier New"/>
              </a:rPr>
              <a:t> </a:t>
            </a:r>
            <a:endParaRPr sz="1000">
              <a:solidFill>
                <a:srgbClr val="262626"/>
              </a:solidFill>
              <a:latin typeface="Courier New"/>
              <a:ea typeface="Courier New"/>
              <a:cs typeface="Courier New"/>
              <a:sym typeface="Courier New"/>
            </a:endParaRPr>
          </a:p>
          <a:p>
            <a:pPr indent="457200" lvl="0" marL="457200" rtl="0" algn="l">
              <a:spcBef>
                <a:spcPts val="0"/>
              </a:spcBef>
              <a:spcAft>
                <a:spcPts val="0"/>
              </a:spcAft>
              <a:buNone/>
            </a:pPr>
            <a:r>
              <a:rPr lang="en" sz="1000">
                <a:solidFill>
                  <a:srgbClr val="193774"/>
                </a:solidFill>
                <a:latin typeface="Courier New"/>
                <a:ea typeface="Courier New"/>
                <a:cs typeface="Courier New"/>
                <a:sym typeface="Courier New"/>
              </a:rPr>
              <a:t> </a:t>
            </a:r>
            <a:r>
              <a:rPr lang="en" sz="1000">
                <a:solidFill>
                  <a:srgbClr val="193774"/>
                </a:solidFill>
                <a:highlight>
                  <a:srgbClr val="FCE5CD"/>
                </a:highlight>
                <a:latin typeface="Courier New"/>
                <a:ea typeface="Courier New"/>
                <a:cs typeface="Courier New"/>
                <a:sym typeface="Courier New"/>
              </a:rPr>
              <a:t>trend</a:t>
            </a:r>
            <a:r>
              <a:rPr lang="en" sz="1000">
                <a:solidFill>
                  <a:srgbClr val="262626"/>
                </a:solidFill>
                <a:highlight>
                  <a:srgbClr val="FCE5CD"/>
                </a:highlight>
                <a:latin typeface="Courier New"/>
                <a:ea typeface="Courier New"/>
                <a:cs typeface="Courier New"/>
                <a:sym typeface="Courier New"/>
              </a:rPr>
              <a:t>(</a:t>
            </a:r>
            <a:r>
              <a:rPr lang="en" sz="1000">
                <a:solidFill>
                  <a:srgbClr val="193774"/>
                </a:solidFill>
                <a:highlight>
                  <a:srgbClr val="FCE5CD"/>
                </a:highlight>
                <a:latin typeface="Courier New"/>
                <a:ea typeface="Courier New"/>
                <a:cs typeface="Courier New"/>
                <a:sym typeface="Courier New"/>
              </a:rPr>
              <a:t>window =</a:t>
            </a:r>
            <a:r>
              <a:rPr lang="en" sz="1000">
                <a:solidFill>
                  <a:srgbClr val="262626"/>
                </a:solidFill>
                <a:highlight>
                  <a:srgbClr val="FCE5CD"/>
                </a:highlight>
                <a:latin typeface="Courier New"/>
                <a:ea typeface="Courier New"/>
                <a:cs typeface="Courier New"/>
                <a:sym typeface="Courier New"/>
              </a:rPr>
              <a:t> </a:t>
            </a:r>
            <a:r>
              <a:rPr lang="en" sz="1000">
                <a:solidFill>
                  <a:srgbClr val="0000C4"/>
                </a:solidFill>
                <a:highlight>
                  <a:srgbClr val="FCE5CD"/>
                </a:highlight>
                <a:latin typeface="Courier New"/>
                <a:ea typeface="Courier New"/>
                <a:cs typeface="Courier New"/>
                <a:sym typeface="Courier New"/>
              </a:rPr>
              <a:t>7</a:t>
            </a:r>
            <a:r>
              <a:rPr lang="en" sz="1000">
                <a:solidFill>
                  <a:srgbClr val="262626"/>
                </a:solidFill>
                <a:highlight>
                  <a:srgbClr val="FCE5CD"/>
                </a:highlight>
                <a:latin typeface="Courier New"/>
                <a:ea typeface="Courier New"/>
                <a:cs typeface="Courier New"/>
                <a:sym typeface="Courier New"/>
              </a:rPr>
              <a:t>)</a:t>
            </a:r>
            <a:r>
              <a:rPr lang="en" sz="1000">
                <a:solidFill>
                  <a:srgbClr val="262626"/>
                </a:solidFill>
                <a:latin typeface="Courier New"/>
                <a:ea typeface="Courier New"/>
                <a:cs typeface="Courier New"/>
                <a:sym typeface="Courier New"/>
              </a:rPr>
              <a:t> </a:t>
            </a:r>
            <a:r>
              <a:rPr lang="en" sz="1000">
                <a:solidFill>
                  <a:srgbClr val="C14705"/>
                </a:solidFill>
                <a:latin typeface="Courier New"/>
                <a:ea typeface="Courier New"/>
                <a:cs typeface="Courier New"/>
                <a:sym typeface="Courier New"/>
              </a:rPr>
              <a:t>+</a:t>
            </a:r>
            <a:endParaRPr sz="1000">
              <a:solidFill>
                <a:srgbClr val="C14705"/>
              </a:solidFill>
              <a:latin typeface="Courier New"/>
              <a:ea typeface="Courier New"/>
              <a:cs typeface="Courier New"/>
              <a:sym typeface="Courier New"/>
            </a:endParaRPr>
          </a:p>
          <a:p>
            <a:pPr indent="0" lvl="0" marL="914400" rtl="0" algn="l">
              <a:spcBef>
                <a:spcPts val="0"/>
              </a:spcBef>
              <a:spcAft>
                <a:spcPts val="0"/>
              </a:spcAft>
              <a:buNone/>
            </a:pPr>
            <a:r>
              <a:rPr lang="en" sz="1000">
                <a:solidFill>
                  <a:srgbClr val="193774"/>
                </a:solidFill>
                <a:latin typeface="Courier New"/>
                <a:ea typeface="Courier New"/>
                <a:cs typeface="Courier New"/>
                <a:sym typeface="Courier New"/>
              </a:rPr>
              <a:t> </a:t>
            </a:r>
            <a:r>
              <a:rPr lang="en" sz="1000">
                <a:solidFill>
                  <a:srgbClr val="193774"/>
                </a:solidFill>
                <a:highlight>
                  <a:srgbClr val="CFE2F3"/>
                </a:highlight>
                <a:latin typeface="Courier New"/>
                <a:ea typeface="Courier New"/>
                <a:cs typeface="Courier New"/>
                <a:sym typeface="Courier New"/>
              </a:rPr>
              <a:t>season</a:t>
            </a:r>
            <a:r>
              <a:rPr lang="en" sz="1000">
                <a:solidFill>
                  <a:srgbClr val="262626"/>
                </a:solidFill>
                <a:highlight>
                  <a:srgbClr val="CFE2F3"/>
                </a:highlight>
                <a:latin typeface="Courier New"/>
                <a:ea typeface="Courier New"/>
                <a:cs typeface="Courier New"/>
                <a:sym typeface="Courier New"/>
              </a:rPr>
              <a:t>(</a:t>
            </a:r>
            <a:r>
              <a:rPr lang="en" sz="1000">
                <a:solidFill>
                  <a:srgbClr val="193774"/>
                </a:solidFill>
                <a:highlight>
                  <a:srgbClr val="CFE2F3"/>
                </a:highlight>
                <a:latin typeface="Courier New"/>
                <a:ea typeface="Courier New"/>
                <a:cs typeface="Courier New"/>
                <a:sym typeface="Courier New"/>
              </a:rPr>
              <a:t>window = </a:t>
            </a:r>
            <a:r>
              <a:rPr lang="en" sz="1000">
                <a:solidFill>
                  <a:srgbClr val="408C09"/>
                </a:solidFill>
                <a:highlight>
                  <a:srgbClr val="CFE2F3"/>
                </a:highlight>
                <a:latin typeface="Courier New"/>
                <a:ea typeface="Courier New"/>
                <a:cs typeface="Courier New"/>
                <a:sym typeface="Courier New"/>
              </a:rPr>
              <a:t>"periodic"</a:t>
            </a:r>
            <a:r>
              <a:rPr lang="en" sz="1000">
                <a:solidFill>
                  <a:srgbClr val="262626"/>
                </a:solidFill>
                <a:highlight>
                  <a:srgbClr val="CFE2F3"/>
                </a:highlight>
                <a:latin typeface="Courier New"/>
                <a:ea typeface="Courier New"/>
                <a:cs typeface="Courier New"/>
                <a:sym typeface="Courier New"/>
              </a:rPr>
              <a:t>)</a:t>
            </a:r>
            <a:r>
              <a:rPr lang="en" sz="1000">
                <a:solidFill>
                  <a:srgbClr val="262626"/>
                </a:solidFill>
                <a:latin typeface="Courier New"/>
                <a:ea typeface="Courier New"/>
                <a:cs typeface="Courier New"/>
                <a:sym typeface="Courier New"/>
              </a:rPr>
              <a:t>,</a:t>
            </a:r>
            <a:endParaRPr sz="1000">
              <a:solidFill>
                <a:srgbClr val="262626"/>
              </a:solidFill>
              <a:latin typeface="Courier New"/>
              <a:ea typeface="Courier New"/>
              <a:cs typeface="Courier New"/>
              <a:sym typeface="Courier New"/>
            </a:endParaRPr>
          </a:p>
          <a:p>
            <a:pPr indent="0" lvl="0" marL="457200" rtl="0" algn="l">
              <a:spcBef>
                <a:spcPts val="0"/>
              </a:spcBef>
              <a:spcAft>
                <a:spcPts val="0"/>
              </a:spcAft>
              <a:buNone/>
            </a:pPr>
            <a:r>
              <a:rPr lang="en" sz="1000">
                <a:solidFill>
                  <a:srgbClr val="193774"/>
                </a:solidFill>
                <a:latin typeface="Courier New"/>
                <a:ea typeface="Courier New"/>
                <a:cs typeface="Courier New"/>
                <a:sym typeface="Courier New"/>
              </a:rPr>
              <a:t>  </a:t>
            </a:r>
            <a:r>
              <a:rPr lang="en" sz="1000">
                <a:solidFill>
                  <a:srgbClr val="193774"/>
                </a:solidFill>
                <a:highlight>
                  <a:srgbClr val="D9EAD3"/>
                </a:highlight>
                <a:latin typeface="Courier New"/>
                <a:ea typeface="Courier New"/>
                <a:cs typeface="Courier New"/>
                <a:sym typeface="Courier New"/>
              </a:rPr>
              <a:t>robust =</a:t>
            </a:r>
            <a:r>
              <a:rPr lang="en" sz="1000">
                <a:solidFill>
                  <a:srgbClr val="262626"/>
                </a:solidFill>
                <a:highlight>
                  <a:srgbClr val="D9EAD3"/>
                </a:highlight>
                <a:latin typeface="Courier New"/>
                <a:ea typeface="Courier New"/>
                <a:cs typeface="Courier New"/>
                <a:sym typeface="Courier New"/>
              </a:rPr>
              <a:t> </a:t>
            </a:r>
            <a:r>
              <a:rPr lang="en" sz="1000">
                <a:solidFill>
                  <a:srgbClr val="7B4705"/>
                </a:solidFill>
                <a:highlight>
                  <a:srgbClr val="D9EAD3"/>
                </a:highlight>
                <a:latin typeface="Courier New"/>
                <a:ea typeface="Courier New"/>
                <a:cs typeface="Courier New"/>
                <a:sym typeface="Courier New"/>
              </a:rPr>
              <a:t>TRUE</a:t>
            </a:r>
            <a:r>
              <a:rPr lang="en" sz="1000">
                <a:solidFill>
                  <a:srgbClr val="262626"/>
                </a:solidFill>
                <a:latin typeface="Courier New"/>
                <a:ea typeface="Courier New"/>
                <a:cs typeface="Courier New"/>
                <a:sym typeface="Courier New"/>
              </a:rPr>
              <a:t>)) </a:t>
            </a:r>
            <a:r>
              <a:rPr lang="en" sz="1000">
                <a:solidFill>
                  <a:srgbClr val="C14705"/>
                </a:solidFill>
                <a:latin typeface="Courier New"/>
                <a:ea typeface="Courier New"/>
                <a:cs typeface="Courier New"/>
                <a:sym typeface="Courier New"/>
              </a:rPr>
              <a:t>|&gt;</a:t>
            </a:r>
            <a:endParaRPr sz="1000">
              <a:solidFill>
                <a:srgbClr val="C14705"/>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193774"/>
                </a:solidFill>
                <a:latin typeface="Courier New"/>
                <a:ea typeface="Courier New"/>
                <a:cs typeface="Courier New"/>
                <a:sym typeface="Courier New"/>
              </a:rPr>
              <a:t>  components</a:t>
            </a:r>
            <a:r>
              <a:rPr lang="en" sz="1000">
                <a:solidFill>
                  <a:srgbClr val="262626"/>
                </a:solidFill>
                <a:latin typeface="Courier New"/>
                <a:ea typeface="Courier New"/>
                <a:cs typeface="Courier New"/>
                <a:sym typeface="Courier New"/>
              </a:rPr>
              <a:t>() </a:t>
            </a:r>
            <a:r>
              <a:rPr lang="en" sz="1000">
                <a:solidFill>
                  <a:srgbClr val="C14705"/>
                </a:solidFill>
                <a:latin typeface="Courier New"/>
                <a:ea typeface="Courier New"/>
                <a:cs typeface="Courier New"/>
                <a:sym typeface="Courier New"/>
              </a:rPr>
              <a:t>|&gt;</a:t>
            </a:r>
            <a:endParaRPr sz="1000">
              <a:solidFill>
                <a:srgbClr val="C14705"/>
              </a:solidFill>
              <a:latin typeface="Courier New"/>
              <a:ea typeface="Courier New"/>
              <a:cs typeface="Courier New"/>
              <a:sym typeface="Courier New"/>
            </a:endParaRPr>
          </a:p>
          <a:p>
            <a:pPr indent="0" lvl="0" marL="0" rtl="0" algn="l">
              <a:spcBef>
                <a:spcPts val="0"/>
              </a:spcBef>
              <a:spcAft>
                <a:spcPts val="0"/>
              </a:spcAft>
              <a:buNone/>
            </a:pPr>
            <a:r>
              <a:rPr lang="en" sz="1000">
                <a:solidFill>
                  <a:srgbClr val="193774"/>
                </a:solidFill>
                <a:latin typeface="Courier New"/>
                <a:ea typeface="Courier New"/>
                <a:cs typeface="Courier New"/>
                <a:sym typeface="Courier New"/>
              </a:rPr>
              <a:t>  autoplot</a:t>
            </a:r>
            <a:r>
              <a:rPr lang="en" sz="1000">
                <a:solidFill>
                  <a:srgbClr val="262626"/>
                </a:solidFill>
                <a:latin typeface="Courier New"/>
                <a:ea typeface="Courier New"/>
                <a:cs typeface="Courier New"/>
                <a:sym typeface="Courier New"/>
              </a:rPr>
              <a:t>()</a:t>
            </a:r>
            <a:endParaRPr sz="1100"/>
          </a:p>
        </p:txBody>
      </p:sp>
      <p:sp>
        <p:nvSpPr>
          <p:cNvPr id="368" name="Google Shape;368;p4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69" name="Google Shape;369;p42"/>
          <p:cNvPicPr preferRelativeResize="0"/>
          <p:nvPr/>
        </p:nvPicPr>
        <p:blipFill>
          <a:blip r:embed="rId3">
            <a:alphaModFix/>
          </a:blip>
          <a:stretch>
            <a:fillRect/>
          </a:stretch>
        </p:blipFill>
        <p:spPr>
          <a:xfrm>
            <a:off x="4359575" y="1049675"/>
            <a:ext cx="4424900" cy="3713125"/>
          </a:xfrm>
          <a:prstGeom prst="rect">
            <a:avLst/>
          </a:prstGeom>
          <a:noFill/>
          <a:ln>
            <a:noFill/>
          </a:ln>
        </p:spPr>
      </p:pic>
      <p:sp>
        <p:nvSpPr>
          <p:cNvPr id="370" name="Google Shape;370;p42"/>
          <p:cNvSpPr txBox="1"/>
          <p:nvPr/>
        </p:nvSpPr>
        <p:spPr>
          <a:xfrm>
            <a:off x="715169" y="3231175"/>
            <a:ext cx="3138000" cy="1005900"/>
          </a:xfrm>
          <a:prstGeom prst="rect">
            <a:avLst/>
          </a:prstGeom>
          <a:noFill/>
          <a:ln>
            <a:noFill/>
          </a:ln>
        </p:spPr>
        <p:txBody>
          <a:bodyPr anchorCtr="0" anchor="t" bIns="91425" lIns="91425" spcFirstLastPara="1" rIns="91425" wrap="square" tIns="91425">
            <a:noAutofit/>
          </a:bodyPr>
          <a:lstStyle/>
          <a:p>
            <a:pPr indent="-247650" lvl="0" marL="342900" rtl="0" algn="l">
              <a:spcBef>
                <a:spcPts val="0"/>
              </a:spcBef>
              <a:spcAft>
                <a:spcPts val="0"/>
              </a:spcAft>
              <a:buClr>
                <a:schemeClr val="accent1"/>
              </a:buClr>
              <a:buSzPts val="1200"/>
              <a:buFont typeface="Lato"/>
              <a:buChar char="●"/>
            </a:pPr>
            <a:r>
              <a:rPr lang="en" sz="1200">
                <a:solidFill>
                  <a:srgbClr val="FF9900"/>
                </a:solidFill>
                <a:latin typeface="Lato"/>
                <a:ea typeface="Lato"/>
                <a:cs typeface="Lato"/>
                <a:sym typeface="Lato"/>
              </a:rPr>
              <a:t>Trend</a:t>
            </a:r>
            <a:r>
              <a:rPr lang="en" sz="1200">
                <a:solidFill>
                  <a:schemeClr val="accent1"/>
                </a:solidFill>
                <a:latin typeface="Lato"/>
                <a:ea typeface="Lato"/>
                <a:cs typeface="Lato"/>
                <a:sym typeface="Lato"/>
              </a:rPr>
              <a:t> and </a:t>
            </a:r>
            <a:r>
              <a:rPr lang="en" sz="1200">
                <a:solidFill>
                  <a:srgbClr val="4A86E8"/>
                </a:solidFill>
                <a:latin typeface="Lato"/>
                <a:ea typeface="Lato"/>
                <a:cs typeface="Lato"/>
                <a:sym typeface="Lato"/>
              </a:rPr>
              <a:t>season</a:t>
            </a:r>
            <a:r>
              <a:rPr lang="en" sz="1200">
                <a:solidFill>
                  <a:schemeClr val="accent1"/>
                </a:solidFill>
                <a:latin typeface="Lato"/>
                <a:ea typeface="Lato"/>
                <a:cs typeface="Lato"/>
                <a:sym typeface="Lato"/>
              </a:rPr>
              <a:t> window sizes should be odd numbers</a:t>
            </a:r>
            <a:endParaRPr sz="1200">
              <a:solidFill>
                <a:schemeClr val="accent1"/>
              </a:solidFill>
              <a:latin typeface="Lato"/>
              <a:ea typeface="Lato"/>
              <a:cs typeface="Lato"/>
              <a:sym typeface="Lato"/>
            </a:endParaRPr>
          </a:p>
          <a:p>
            <a:pPr indent="-247650" lvl="0" marL="342900" rtl="0" algn="l">
              <a:spcBef>
                <a:spcPts val="1000"/>
              </a:spcBef>
              <a:spcAft>
                <a:spcPts val="0"/>
              </a:spcAft>
              <a:buClr>
                <a:schemeClr val="accent1"/>
              </a:buClr>
              <a:buSzPts val="1200"/>
              <a:buFont typeface="Lato"/>
              <a:buChar char="●"/>
            </a:pPr>
            <a:r>
              <a:rPr lang="en" sz="1200">
                <a:solidFill>
                  <a:srgbClr val="6AA84F"/>
                </a:solidFill>
                <a:latin typeface="Lato"/>
                <a:ea typeface="Lato"/>
                <a:cs typeface="Lato"/>
                <a:sym typeface="Lato"/>
              </a:rPr>
              <a:t>robust=TRUE</a:t>
            </a:r>
            <a:r>
              <a:rPr lang="en" sz="1200">
                <a:solidFill>
                  <a:schemeClr val="accent1"/>
                </a:solidFill>
                <a:latin typeface="Lato"/>
                <a:ea typeface="Lato"/>
                <a:cs typeface="Lato"/>
                <a:sym typeface="Lato"/>
              </a:rPr>
              <a:t> makes Loess smoothing </a:t>
            </a:r>
            <a:br>
              <a:rPr lang="en" sz="1200">
                <a:solidFill>
                  <a:schemeClr val="accent1"/>
                </a:solidFill>
                <a:latin typeface="Lato"/>
                <a:ea typeface="Lato"/>
                <a:cs typeface="Lato"/>
                <a:sym typeface="Lato"/>
              </a:rPr>
            </a:br>
            <a:r>
              <a:rPr lang="en" sz="1200">
                <a:solidFill>
                  <a:schemeClr val="accent1"/>
                </a:solidFill>
                <a:latin typeface="Lato"/>
                <a:ea typeface="Lato"/>
                <a:cs typeface="Lato"/>
                <a:sym typeface="Lato"/>
              </a:rPr>
              <a:t>less sensitive to outliers</a:t>
            </a:r>
            <a:endParaRPr sz="900">
              <a:solidFill>
                <a:schemeClr val="accent1"/>
              </a:solidFill>
              <a:latin typeface="Lato"/>
              <a:ea typeface="Lato"/>
              <a:cs typeface="Lato"/>
              <a:sym typeface="Lato"/>
            </a:endParaRPr>
          </a:p>
        </p:txBody>
      </p:sp>
      <p:sp>
        <p:nvSpPr>
          <p:cNvPr id="371" name="Google Shape;371;p42"/>
          <p:cNvSpPr txBox="1"/>
          <p:nvPr/>
        </p:nvSpPr>
        <p:spPr>
          <a:xfrm>
            <a:off x="729450" y="4710524"/>
            <a:ext cx="46737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solidFill>
                <a:srgbClr val="999999"/>
              </a:solidFill>
              <a:latin typeface="Raleway"/>
              <a:ea typeface="Raleway"/>
              <a:cs typeface="Raleway"/>
              <a:sym typeface="Raleway"/>
            </a:endParaRPr>
          </a:p>
        </p:txBody>
      </p:sp>
      <p:sp>
        <p:nvSpPr>
          <p:cNvPr id="372" name="Google Shape;372;p42"/>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STL Features</a:t>
            </a:r>
            <a:endParaRPr/>
          </a:p>
        </p:txBody>
      </p:sp>
      <p:sp>
        <p:nvSpPr>
          <p:cNvPr id="378" name="Google Shape;378;p43"/>
          <p:cNvSpPr txBox="1"/>
          <p:nvPr>
            <p:ph idx="1" type="body"/>
          </p:nvPr>
        </p:nvSpPr>
        <p:spPr>
          <a:xfrm>
            <a:off x="646923" y="2078875"/>
            <a:ext cx="3376500" cy="2261100"/>
          </a:xfrm>
          <a:prstGeom prst="rect">
            <a:avLst/>
          </a:prstGeom>
        </p:spPr>
        <p:txBody>
          <a:bodyPr anchorCtr="0" anchor="t" bIns="91425" lIns="91425" spcFirstLastPara="1" rIns="91425" wrap="square" tIns="91425">
            <a:normAutofit/>
          </a:bodyPr>
          <a:lstStyle/>
          <a:p>
            <a:pPr indent="-254000" lvl="0" marL="400050" rtl="0" algn="l">
              <a:spcBef>
                <a:spcPts val="0"/>
              </a:spcBef>
              <a:spcAft>
                <a:spcPts val="0"/>
              </a:spcAft>
              <a:buClr>
                <a:srgbClr val="000000"/>
              </a:buClr>
              <a:buSzPts val="1300"/>
              <a:buChar char="●"/>
            </a:pPr>
            <a:r>
              <a:rPr lang="en">
                <a:solidFill>
                  <a:srgbClr val="BF9000"/>
                </a:solidFill>
              </a:rPr>
              <a:t>Strength of trend</a:t>
            </a:r>
            <a:endParaRPr>
              <a:solidFill>
                <a:srgbClr val="BF9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0"/>
              </a:spcAft>
              <a:buNone/>
            </a:pPr>
            <a:r>
              <a:t/>
            </a:r>
            <a:endParaRPr>
              <a:solidFill>
                <a:srgbClr val="000000"/>
              </a:solidFill>
            </a:endParaRPr>
          </a:p>
          <a:p>
            <a:pPr indent="-254000" lvl="0" marL="400050" rtl="0" algn="l">
              <a:spcBef>
                <a:spcPts val="1200"/>
              </a:spcBef>
              <a:spcAft>
                <a:spcPts val="0"/>
              </a:spcAft>
              <a:buClr>
                <a:srgbClr val="000000"/>
              </a:buClr>
              <a:buSzPts val="1300"/>
              <a:buChar char="●"/>
            </a:pPr>
            <a:r>
              <a:rPr lang="en">
                <a:solidFill>
                  <a:srgbClr val="BF9000"/>
                </a:solidFill>
              </a:rPr>
              <a:t>Strength of seasonality</a:t>
            </a:r>
            <a:endParaRPr>
              <a:solidFill>
                <a:srgbClr val="BF9000"/>
              </a:solidFill>
            </a:endParaRPr>
          </a:p>
        </p:txBody>
      </p:sp>
      <p:sp>
        <p:nvSpPr>
          <p:cNvPr id="379" name="Google Shape;379;p4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80" name="Google Shape;380;p43"/>
          <p:cNvPicPr preferRelativeResize="0"/>
          <p:nvPr/>
        </p:nvPicPr>
        <p:blipFill>
          <a:blip r:embed="rId3">
            <a:alphaModFix/>
          </a:blip>
          <a:stretch>
            <a:fillRect/>
          </a:stretch>
        </p:blipFill>
        <p:spPr>
          <a:xfrm>
            <a:off x="4340800" y="911575"/>
            <a:ext cx="4516536" cy="3762075"/>
          </a:xfrm>
          <a:prstGeom prst="rect">
            <a:avLst/>
          </a:prstGeom>
          <a:noFill/>
          <a:ln>
            <a:noFill/>
          </a:ln>
        </p:spPr>
      </p:pic>
      <p:sp>
        <p:nvSpPr>
          <p:cNvPr id="381" name="Google Shape;381;p43"/>
          <p:cNvSpPr txBox="1"/>
          <p:nvPr/>
        </p:nvSpPr>
        <p:spPr>
          <a:xfrm>
            <a:off x="729450" y="4795877"/>
            <a:ext cx="48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999999"/>
                </a:solidFill>
                <a:latin typeface="Raleway"/>
                <a:ea typeface="Raleway"/>
                <a:cs typeface="Raleway"/>
                <a:sym typeface="Raleway"/>
              </a:rPr>
              <a:t>R</a:t>
            </a:r>
            <a:r>
              <a:rPr baseline="-25000" lang="en" sz="800">
                <a:solidFill>
                  <a:srgbClr val="999999"/>
                </a:solidFill>
                <a:latin typeface="Raleway"/>
                <a:ea typeface="Raleway"/>
                <a:cs typeface="Raleway"/>
                <a:sym typeface="Raleway"/>
              </a:rPr>
              <a:t>t</a:t>
            </a:r>
            <a:r>
              <a:rPr lang="en" sz="800">
                <a:solidFill>
                  <a:srgbClr val="999999"/>
                </a:solidFill>
                <a:latin typeface="Raleway"/>
                <a:ea typeface="Raleway"/>
                <a:cs typeface="Raleway"/>
                <a:sym typeface="Raleway"/>
              </a:rPr>
              <a:t>, remainder component; S</a:t>
            </a:r>
            <a:r>
              <a:rPr baseline="-25000" lang="en" sz="800">
                <a:solidFill>
                  <a:srgbClr val="999999"/>
                </a:solidFill>
                <a:latin typeface="Raleway"/>
                <a:ea typeface="Raleway"/>
                <a:cs typeface="Raleway"/>
                <a:sym typeface="Raleway"/>
              </a:rPr>
              <a:t>t</a:t>
            </a:r>
            <a:r>
              <a:rPr lang="en" sz="800">
                <a:solidFill>
                  <a:srgbClr val="999999"/>
                </a:solidFill>
                <a:latin typeface="Raleway"/>
                <a:ea typeface="Raleway"/>
                <a:cs typeface="Raleway"/>
                <a:sym typeface="Raleway"/>
              </a:rPr>
              <a:t>, seasonal component; T</a:t>
            </a:r>
            <a:r>
              <a:rPr baseline="-25000" lang="en" sz="800">
                <a:solidFill>
                  <a:srgbClr val="999999"/>
                </a:solidFill>
                <a:latin typeface="Raleway"/>
                <a:ea typeface="Raleway"/>
                <a:cs typeface="Raleway"/>
                <a:sym typeface="Raleway"/>
              </a:rPr>
              <a:t>t</a:t>
            </a:r>
            <a:r>
              <a:rPr lang="en" sz="800">
                <a:solidFill>
                  <a:srgbClr val="999999"/>
                </a:solidFill>
                <a:latin typeface="Raleway"/>
                <a:ea typeface="Raleway"/>
                <a:cs typeface="Raleway"/>
                <a:sym typeface="Raleway"/>
              </a:rPr>
              <a:t>, smoothed trend component; var, variance.</a:t>
            </a:r>
            <a:endParaRPr sz="800">
              <a:solidFill>
                <a:srgbClr val="999999"/>
              </a:solidFill>
              <a:latin typeface="Raleway"/>
              <a:ea typeface="Raleway"/>
              <a:cs typeface="Raleway"/>
              <a:sym typeface="Raleway"/>
            </a:endParaRPr>
          </a:p>
        </p:txBody>
      </p:sp>
      <p:pic>
        <p:nvPicPr>
          <p:cNvPr id="382" name="Google Shape;382;p43"/>
          <p:cNvPicPr preferRelativeResize="0"/>
          <p:nvPr/>
        </p:nvPicPr>
        <p:blipFill>
          <a:blip r:embed="rId4">
            <a:alphaModFix/>
          </a:blip>
          <a:stretch>
            <a:fillRect/>
          </a:stretch>
        </p:blipFill>
        <p:spPr>
          <a:xfrm>
            <a:off x="1236393" y="2464450"/>
            <a:ext cx="2401382" cy="535200"/>
          </a:xfrm>
          <a:prstGeom prst="rect">
            <a:avLst/>
          </a:prstGeom>
          <a:noFill/>
          <a:ln>
            <a:noFill/>
          </a:ln>
        </p:spPr>
      </p:pic>
      <p:pic>
        <p:nvPicPr>
          <p:cNvPr id="383" name="Google Shape;383;p43"/>
          <p:cNvPicPr preferRelativeResize="0"/>
          <p:nvPr/>
        </p:nvPicPr>
        <p:blipFill>
          <a:blip r:embed="rId5">
            <a:alphaModFix/>
          </a:blip>
          <a:stretch>
            <a:fillRect/>
          </a:stretch>
        </p:blipFill>
        <p:spPr>
          <a:xfrm>
            <a:off x="1236400" y="3663377"/>
            <a:ext cx="2401375" cy="524198"/>
          </a:xfrm>
          <a:prstGeom prst="rect">
            <a:avLst/>
          </a:prstGeom>
          <a:noFill/>
          <a:ln>
            <a:noFill/>
          </a:ln>
        </p:spPr>
      </p:pic>
      <p:sp>
        <p:nvSpPr>
          <p:cNvPr id="384" name="Google Shape;384;p43"/>
          <p:cNvSpPr/>
          <p:nvPr/>
        </p:nvSpPr>
        <p:spPr>
          <a:xfrm>
            <a:off x="100" y="-17200"/>
            <a:ext cx="9144000" cy="559200"/>
          </a:xfrm>
          <a:prstGeom prst="rect">
            <a:avLst/>
          </a:prstGeom>
          <a:solidFill>
            <a:srgbClr val="45818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References</a:t>
            </a:r>
            <a:endParaRPr/>
          </a:p>
        </p:txBody>
      </p:sp>
      <p:sp>
        <p:nvSpPr>
          <p:cNvPr id="390" name="Google Shape;390;p4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200">
                <a:solidFill>
                  <a:schemeClr val="dk2"/>
                </a:solidFill>
                <a:latin typeface="Raleway"/>
                <a:ea typeface="Raleway"/>
                <a:cs typeface="Raleway"/>
                <a:sym typeface="Raleway"/>
              </a:rPr>
              <a:t>Hyndman RJ &amp; Athanasopoulos G. (2021). Forecasting: Principles and Practice, 3rd edition</a:t>
            </a:r>
            <a:endParaRPr sz="12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sz="1200">
              <a:solidFill>
                <a:schemeClr val="dk2"/>
              </a:solidFill>
              <a:latin typeface="Raleway"/>
              <a:ea typeface="Raleway"/>
              <a:cs typeface="Raleway"/>
              <a:sym typeface="Raleway"/>
            </a:endParaRPr>
          </a:p>
          <a:p>
            <a:pPr indent="-114300" lvl="0" marL="114300" rtl="0" algn="l">
              <a:lnSpc>
                <a:spcPct val="100000"/>
              </a:lnSpc>
              <a:spcBef>
                <a:spcPts val="0"/>
              </a:spcBef>
              <a:spcAft>
                <a:spcPts val="0"/>
              </a:spcAft>
              <a:buNone/>
            </a:pPr>
            <a:r>
              <a:rPr lang="en" sz="1200">
                <a:solidFill>
                  <a:schemeClr val="dk2"/>
                </a:solidFill>
                <a:latin typeface="Raleway"/>
                <a:ea typeface="Raleway"/>
                <a:cs typeface="Raleway"/>
                <a:sym typeface="Raleway"/>
              </a:rPr>
              <a:t>Cleveland RB et al. STL: A seasonal-trend decomposition procedure based on Loess. </a:t>
            </a:r>
            <a:br>
              <a:rPr lang="en" sz="1200">
                <a:solidFill>
                  <a:schemeClr val="dk2"/>
                </a:solidFill>
                <a:latin typeface="Raleway"/>
                <a:ea typeface="Raleway"/>
                <a:cs typeface="Raleway"/>
                <a:sym typeface="Raleway"/>
              </a:rPr>
            </a:br>
            <a:r>
              <a:rPr i="1" lang="en" sz="1200">
                <a:solidFill>
                  <a:schemeClr val="dk2"/>
                </a:solidFill>
                <a:latin typeface="Raleway"/>
                <a:ea typeface="Raleway"/>
                <a:cs typeface="Raleway"/>
                <a:sym typeface="Raleway"/>
              </a:rPr>
              <a:t>Journal of Official Statistics</a:t>
            </a:r>
            <a:r>
              <a:rPr lang="en" sz="1200">
                <a:solidFill>
                  <a:schemeClr val="dk2"/>
                </a:solidFill>
                <a:latin typeface="Raleway"/>
                <a:ea typeface="Raleway"/>
                <a:cs typeface="Raleway"/>
                <a:sym typeface="Raleway"/>
              </a:rPr>
              <a:t>. 1990;6:3-73.</a:t>
            </a:r>
            <a:endParaRPr sz="1200">
              <a:solidFill>
                <a:schemeClr val="dk2"/>
              </a:solidFill>
              <a:latin typeface="Raleway"/>
              <a:ea typeface="Raleway"/>
              <a:cs typeface="Raleway"/>
              <a:sym typeface="Raleway"/>
            </a:endParaRPr>
          </a:p>
        </p:txBody>
      </p:sp>
      <p:sp>
        <p:nvSpPr>
          <p:cNvPr id="391" name="Google Shape;391;p4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